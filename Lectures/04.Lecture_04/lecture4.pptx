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4" r:id="rId27"/>
    <p:sldId id="285" r:id="rId28"/>
    <p:sldId id="286" r:id="rId29"/>
    <p:sldId id="287" r:id="rId30"/>
    <p:sldId id="289" r:id="rId31"/>
    <p:sldId id="290" r:id="rId32"/>
    <p:sldId id="291" r:id="rId33"/>
    <p:sldId id="292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06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31243"/>
            <a:ext cx="12192000" cy="6095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31242"/>
            <a:ext cx="12192000" cy="60960"/>
          </a:xfrm>
          <a:custGeom>
            <a:avLst/>
            <a:gdLst/>
            <a:ahLst/>
            <a:cxnLst/>
            <a:rect l="l" t="t" r="r" b="b"/>
            <a:pathLst>
              <a:path w="12192000" h="60959">
                <a:moveTo>
                  <a:pt x="0" y="0"/>
                </a:moveTo>
                <a:lnTo>
                  <a:pt x="12192000" y="0"/>
                </a:lnTo>
                <a:lnTo>
                  <a:pt x="12192000" y="60957"/>
                </a:lnTo>
                <a:lnTo>
                  <a:pt x="0" y="60957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22303" y="112888"/>
            <a:ext cx="9547392" cy="8229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0617" y="1414002"/>
            <a:ext cx="5541009" cy="2625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8711" y="1805419"/>
            <a:ext cx="5972636" cy="547047"/>
          </a:xfrm>
          <a:prstGeom prst="rect">
            <a:avLst/>
          </a:prstGeom>
        </p:spPr>
        <p:txBody>
          <a:bodyPr vert="horz" wrap="square" lIns="0" tIns="9245" rIns="0" bIns="0" rtlCol="0">
            <a:spAutoFit/>
          </a:bodyPr>
          <a:lstStyle/>
          <a:p>
            <a:pPr marL="9246">
              <a:spcBef>
                <a:spcPts val="73"/>
              </a:spcBef>
            </a:pPr>
            <a:r>
              <a:rPr sz="3494" dirty="0">
                <a:solidFill>
                  <a:srgbClr val="1F3863"/>
                </a:solidFill>
              </a:rPr>
              <a:t>CS860:</a:t>
            </a:r>
            <a:r>
              <a:rPr sz="3494" spc="-244" dirty="0">
                <a:solidFill>
                  <a:srgbClr val="1F3863"/>
                </a:solidFill>
              </a:rPr>
              <a:t> </a:t>
            </a:r>
            <a:r>
              <a:rPr sz="3494" dirty="0">
                <a:solidFill>
                  <a:srgbClr val="1F3863"/>
                </a:solidFill>
              </a:rPr>
              <a:t>Artificial</a:t>
            </a:r>
            <a:r>
              <a:rPr sz="3494" spc="-156" dirty="0">
                <a:solidFill>
                  <a:srgbClr val="1F3863"/>
                </a:solidFill>
              </a:rPr>
              <a:t> </a:t>
            </a:r>
            <a:r>
              <a:rPr sz="3494" spc="-7" dirty="0">
                <a:solidFill>
                  <a:srgbClr val="1F3863"/>
                </a:solidFill>
              </a:rPr>
              <a:t>Intelligence</a:t>
            </a:r>
            <a:endParaRPr sz="3494"/>
          </a:p>
        </p:txBody>
      </p:sp>
      <p:sp>
        <p:nvSpPr>
          <p:cNvPr id="3" name="object 3"/>
          <p:cNvSpPr/>
          <p:nvPr/>
        </p:nvSpPr>
        <p:spPr>
          <a:xfrm>
            <a:off x="3117770" y="2304642"/>
            <a:ext cx="5955535" cy="46686"/>
          </a:xfrm>
          <a:custGeom>
            <a:avLst/>
            <a:gdLst/>
            <a:ahLst/>
            <a:cxnLst/>
            <a:rect l="l" t="t" r="r" b="b"/>
            <a:pathLst>
              <a:path w="8181340" h="64135">
                <a:moveTo>
                  <a:pt x="8180832" y="0"/>
                </a:moveTo>
                <a:lnTo>
                  <a:pt x="0" y="0"/>
                </a:lnTo>
                <a:lnTo>
                  <a:pt x="0" y="64008"/>
                </a:lnTo>
                <a:lnTo>
                  <a:pt x="8180832" y="64008"/>
                </a:lnTo>
                <a:lnTo>
                  <a:pt x="8180832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08677" y="4824580"/>
            <a:ext cx="5574647" cy="1258285"/>
          </a:xfrm>
          <a:prstGeom prst="rect">
            <a:avLst/>
          </a:prstGeom>
        </p:spPr>
        <p:txBody>
          <a:bodyPr vert="horz" wrap="square" lIns="0" tIns="9707" rIns="0" bIns="0" rtlCol="0">
            <a:spAutoFit/>
          </a:bodyPr>
          <a:lstStyle/>
          <a:p>
            <a:pPr marL="206633" marR="3698" indent="-197851">
              <a:lnSpc>
                <a:spcPct val="155400"/>
              </a:lnSpc>
              <a:spcBef>
                <a:spcPts val="77"/>
              </a:spcBef>
            </a:pPr>
            <a:r>
              <a:rPr sz="2038" b="1" dirty="0">
                <a:latin typeface="Arial" panose="020B0604020202020204" pitchFamily="34" charset="0"/>
                <a:cs typeface="Arial" panose="020B0604020202020204" pitchFamily="34" charset="0"/>
              </a:rPr>
              <a:t>Lecture</a:t>
            </a:r>
            <a:r>
              <a:rPr sz="2038" b="1" spc="-4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38" b="1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sz="2038" b="1" spc="-5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38" b="1" spc="-5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sz="2038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038" b="1" spc="-5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2118" dirty="0">
                <a:latin typeface="Calibri"/>
                <a:cs typeface="Calibri"/>
              </a:rPr>
              <a:t>Constraint</a:t>
            </a:r>
            <a:r>
              <a:rPr lang="en-MY" sz="2118" spc="-4" dirty="0">
                <a:latin typeface="Calibri"/>
                <a:cs typeface="Calibri"/>
              </a:rPr>
              <a:t> </a:t>
            </a:r>
            <a:r>
              <a:rPr lang="en-MY" sz="2118" dirty="0">
                <a:latin typeface="Calibri"/>
                <a:cs typeface="Calibri"/>
              </a:rPr>
              <a:t>Satisfaction</a:t>
            </a:r>
            <a:r>
              <a:rPr lang="en-MY" sz="2118" spc="4" dirty="0">
                <a:latin typeface="Calibri"/>
                <a:cs typeface="Calibri"/>
              </a:rPr>
              <a:t> </a:t>
            </a:r>
            <a:r>
              <a:rPr lang="en-MY" sz="2118" spc="-9" dirty="0">
                <a:latin typeface="Calibri"/>
                <a:cs typeface="Calibri"/>
              </a:rPr>
              <a:t>Problems</a:t>
            </a:r>
            <a:endParaRPr lang="en-US" sz="2038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06633" marR="3698" indent="-197851">
              <a:lnSpc>
                <a:spcPct val="155400"/>
              </a:lnSpc>
              <a:spcBef>
                <a:spcPts val="77"/>
              </a:spcBef>
            </a:pPr>
            <a:r>
              <a:rPr sz="2038" b="1" dirty="0">
                <a:latin typeface="Arial" panose="020B0604020202020204" pitchFamily="34" charset="0"/>
                <a:cs typeface="Arial" panose="020B0604020202020204" pitchFamily="34" charset="0"/>
              </a:rPr>
              <a:t>Instructor:</a:t>
            </a:r>
            <a:r>
              <a:rPr sz="2038" b="1" spc="-9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38" b="1" dirty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sz="2038" b="1" spc="-10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2038" b="1" dirty="0">
                <a:latin typeface="Arial" panose="020B0604020202020204" pitchFamily="34" charset="0"/>
                <a:cs typeface="Arial" panose="020B0604020202020204" pitchFamily="34" charset="0"/>
              </a:rPr>
              <a:t>Soyiba Jawed</a:t>
            </a:r>
            <a:endParaRPr lang="en-MY" sz="1588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1588" dirty="0">
                <a:solidFill>
                  <a:srgbClr val="000000"/>
                </a:solidFill>
                <a:latin typeface="Calibri" panose="020F0502020204030204" pitchFamily="34" charset="0"/>
              </a:rPr>
              <a:t> [These slides adapted from Dan Klein and Pieter </a:t>
            </a:r>
            <a:r>
              <a:rPr lang="en-US" sz="1588" dirty="0" err="1">
                <a:solidFill>
                  <a:srgbClr val="000000"/>
                </a:solidFill>
                <a:latin typeface="Calibri" panose="020F0502020204030204" pitchFamily="34" charset="0"/>
              </a:rPr>
              <a:t>Abbeel</a:t>
            </a:r>
            <a:r>
              <a:rPr lang="en-US" sz="1588" dirty="0">
                <a:solidFill>
                  <a:srgbClr val="000000"/>
                </a:solidFill>
                <a:latin typeface="Calibri" panose="020F0502020204030204" pitchFamily="34" charset="0"/>
              </a:rPr>
              <a:t>]</a:t>
            </a:r>
            <a:endParaRPr sz="2038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284E078D-C653-732B-AD4B-2A4F9B6E58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3824" y="2397781"/>
            <a:ext cx="3429000" cy="2107760"/>
          </a:xfrm>
          <a:prstGeom prst="rect">
            <a:avLst/>
          </a:prstGeom>
        </p:spPr>
      </p:pic>
      <p:pic>
        <p:nvPicPr>
          <p:cNvPr id="7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4530" y="2351328"/>
            <a:ext cx="1548379" cy="22594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174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What</a:t>
            </a:r>
            <a:r>
              <a:rPr sz="4400" spc="-100" dirty="0"/>
              <a:t> </a:t>
            </a:r>
            <a:r>
              <a:rPr sz="4400" dirty="0"/>
              <a:t>is</a:t>
            </a:r>
            <a:r>
              <a:rPr sz="4400" spc="-100" dirty="0"/>
              <a:t> </a:t>
            </a:r>
            <a:r>
              <a:rPr sz="4400" dirty="0"/>
              <a:t>Search</a:t>
            </a:r>
            <a:r>
              <a:rPr sz="4400" spc="-100" dirty="0"/>
              <a:t> </a:t>
            </a:r>
            <a:r>
              <a:rPr sz="4400" spc="-20" dirty="0"/>
              <a:t>For?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39417" y="1287640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292" y="1248448"/>
            <a:ext cx="10894695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Assumptions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about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world: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single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agent,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deterministic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actions,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fully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observed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state,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discrete</a:t>
            </a:r>
            <a:r>
              <a:rPr sz="2400" spc="-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r>
              <a:rPr sz="2400" spc="-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417" y="2487536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2292" y="2448343"/>
            <a:ext cx="38246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Planning: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sequences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actions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6583" y="2859457"/>
            <a:ext cx="154305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spc="240" dirty="0"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240" dirty="0"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240" dirty="0"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2313" y="2827857"/>
            <a:ext cx="44018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important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thing Paths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various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costs,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depths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Heuristics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problem-</a:t>
            </a:r>
            <a:r>
              <a:rPr sz="2000" dirty="0">
                <a:latin typeface="Calibri"/>
                <a:cs typeface="Calibri"/>
              </a:rPr>
              <a:t>specific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guidance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417" y="4416412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292" y="4377220"/>
            <a:ext cx="4850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Identification: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assignments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6583" y="4788333"/>
            <a:ext cx="154305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spc="240" dirty="0"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240" dirty="0"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240" dirty="0"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2313" y="4756732"/>
            <a:ext cx="5359400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itself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important,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path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20000"/>
              </a:lnSpc>
            </a:pP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formulations) </a:t>
            </a:r>
            <a:r>
              <a:rPr sz="2000" dirty="0">
                <a:latin typeface="Calibri"/>
                <a:cs typeface="Calibri"/>
              </a:rPr>
              <a:t>CSPs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specialized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identification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96189" y="1882123"/>
            <a:ext cx="3376929" cy="4391025"/>
            <a:chOff x="7596189" y="1882123"/>
            <a:chExt cx="3376929" cy="439102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24801" y="4026567"/>
              <a:ext cx="2775554" cy="224656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6189" y="1882123"/>
              <a:ext cx="3376612" cy="22285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Constraint</a:t>
            </a:r>
            <a:r>
              <a:rPr sz="4000" spc="-180" dirty="0"/>
              <a:t> </a:t>
            </a:r>
            <a:r>
              <a:rPr sz="4000" dirty="0"/>
              <a:t>Satisfaction</a:t>
            </a:r>
            <a:r>
              <a:rPr sz="4000" spc="-180" dirty="0"/>
              <a:t> </a:t>
            </a:r>
            <a:r>
              <a:rPr sz="4000" spc="-10" dirty="0"/>
              <a:t>Problems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5016" y="1943100"/>
            <a:ext cx="7102170" cy="35178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Constraint</a:t>
            </a:r>
            <a:r>
              <a:rPr sz="4000" spc="-180" dirty="0"/>
              <a:t> </a:t>
            </a:r>
            <a:r>
              <a:rPr sz="4000" dirty="0"/>
              <a:t>Satisfaction</a:t>
            </a:r>
            <a:r>
              <a:rPr sz="4000" spc="-180" dirty="0"/>
              <a:t> </a:t>
            </a:r>
            <a:r>
              <a:rPr sz="4000" spc="-10" dirty="0"/>
              <a:t>Problems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90217" y="1596061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4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092" y="1564459"/>
            <a:ext cx="27813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Standard</a:t>
            </a:r>
            <a:r>
              <a:rPr sz="20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0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problems: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383" y="1913105"/>
            <a:ext cx="147955" cy="91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3113" y="1883400"/>
            <a:ext cx="4488815" cy="919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400"/>
              </a:lnSpc>
            </a:pPr>
            <a:r>
              <a:rPr sz="1900" spc="-10" dirty="0">
                <a:latin typeface="Calibri"/>
                <a:cs typeface="Calibri"/>
              </a:rPr>
              <a:t>State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“black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box”: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arbitrary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structure </a:t>
            </a:r>
            <a:r>
              <a:rPr sz="1900" dirty="0">
                <a:latin typeface="Calibri"/>
                <a:cs typeface="Calibri"/>
              </a:rPr>
              <a:t>Goal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test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over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states </a:t>
            </a:r>
            <a:r>
              <a:rPr sz="1900" dirty="0">
                <a:latin typeface="Calibri"/>
                <a:cs typeface="Calibri"/>
              </a:rPr>
              <a:t>Successor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function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anything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217" y="3148477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4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092" y="3116876"/>
            <a:ext cx="41059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r>
              <a:rPr sz="20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satisfaction</a:t>
            </a:r>
            <a:r>
              <a:rPr sz="20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r>
              <a:rPr sz="20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(CSPs):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7383" y="3404427"/>
            <a:ext cx="147955" cy="727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7713" y="3387482"/>
            <a:ext cx="5088890" cy="15703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special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subset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search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problems</a:t>
            </a:r>
            <a:endParaRPr sz="1900">
              <a:latin typeface="Calibri"/>
              <a:cs typeface="Calibri"/>
            </a:endParaRPr>
          </a:p>
          <a:p>
            <a:pPr marL="38100" marR="133350">
              <a:lnSpc>
                <a:spcPct val="104000"/>
              </a:lnSpc>
              <a:spcBef>
                <a:spcPts val="305"/>
              </a:spcBef>
            </a:pPr>
            <a:r>
              <a:rPr sz="1900" dirty="0">
                <a:latin typeface="Calibri"/>
                <a:cs typeface="Calibri"/>
              </a:rPr>
              <a:t>State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defined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C0000"/>
                </a:solidFill>
                <a:latin typeface="Calibri"/>
                <a:cs typeface="Calibri"/>
              </a:rPr>
              <a:t>variables</a:t>
            </a:r>
            <a:r>
              <a:rPr sz="1900" spc="-5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CC0000"/>
                </a:solidFill>
                <a:latin typeface="Times New Roman"/>
                <a:cs typeface="Times New Roman"/>
              </a:rPr>
              <a:t>X</a:t>
            </a:r>
            <a:r>
              <a:rPr sz="1950" b="1" i="1" baseline="-21367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1950" b="1" i="1" spc="652" baseline="-21367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50" dirty="0">
                <a:latin typeface="Calibri"/>
                <a:cs typeface="Calibri"/>
              </a:rPr>
              <a:t> a </a:t>
            </a:r>
            <a:r>
              <a:rPr sz="1900" dirty="0">
                <a:solidFill>
                  <a:srgbClr val="CC0000"/>
                </a:solidFill>
                <a:latin typeface="Calibri"/>
                <a:cs typeface="Calibri"/>
              </a:rPr>
              <a:t>domain</a:t>
            </a:r>
            <a:r>
              <a:rPr sz="1900" spc="-3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CC0000"/>
                </a:solidFill>
                <a:latin typeface="Times New Roman"/>
                <a:cs typeface="Times New Roman"/>
              </a:rPr>
              <a:t>D</a:t>
            </a:r>
            <a:r>
              <a:rPr sz="2000" b="1" i="1" spc="-3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Calibri"/>
                <a:cs typeface="Calibri"/>
              </a:rPr>
              <a:t>(sometimes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D</a:t>
            </a:r>
            <a:r>
              <a:rPr sz="2000" b="1" i="1" spc="-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alibri"/>
                <a:cs typeface="Calibri"/>
              </a:rPr>
              <a:t>depends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2000" b="1" i="1" spc="-25" dirty="0">
                <a:latin typeface="Times New Roman"/>
                <a:cs typeface="Times New Roman"/>
              </a:rPr>
              <a:t>i</a:t>
            </a:r>
            <a:r>
              <a:rPr sz="1900" spc="-25" dirty="0">
                <a:latin typeface="Calibri"/>
                <a:cs typeface="Calibri"/>
              </a:rPr>
              <a:t>)</a:t>
            </a:r>
            <a:endParaRPr sz="1900">
              <a:latin typeface="Calibri"/>
              <a:cs typeface="Calibri"/>
            </a:endParaRPr>
          </a:p>
          <a:p>
            <a:pPr marL="38100" marR="30480">
              <a:lnSpc>
                <a:spcPts val="1920"/>
              </a:lnSpc>
              <a:spcBef>
                <a:spcPts val="365"/>
              </a:spcBef>
            </a:pPr>
            <a:r>
              <a:rPr sz="1900" dirty="0">
                <a:latin typeface="Calibri"/>
                <a:cs typeface="Calibri"/>
              </a:rPr>
              <a:t>Goal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test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C0000"/>
                </a:solidFill>
                <a:latin typeface="Calibri"/>
                <a:cs typeface="Calibri"/>
              </a:rPr>
              <a:t>set</a:t>
            </a:r>
            <a:r>
              <a:rPr sz="1900" spc="-3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C0000"/>
                </a:solidFill>
                <a:latin typeface="Calibri"/>
                <a:cs typeface="Calibri"/>
              </a:rPr>
              <a:t>of</a:t>
            </a:r>
            <a:r>
              <a:rPr sz="1900" spc="-3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CC0000"/>
                </a:solidFill>
                <a:latin typeface="Calibri"/>
                <a:cs typeface="Calibri"/>
              </a:rPr>
              <a:t>constraints</a:t>
            </a:r>
            <a:r>
              <a:rPr sz="1900" spc="-3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specifying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allowable combinations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subsets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variables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7383" y="4428244"/>
            <a:ext cx="1479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0217" y="5326374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4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092" y="5294773"/>
            <a:ext cx="5413375" cy="58547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2010"/>
              </a:lnSpc>
              <a:spcBef>
                <a:spcPts val="490"/>
              </a:spcBef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Allows</a:t>
            </a:r>
            <a:r>
              <a:rPr sz="20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useful</a:t>
            </a:r>
            <a:r>
              <a:rPr sz="20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33399"/>
                </a:solidFill>
                <a:latin typeface="Calibri"/>
                <a:cs typeface="Calibri"/>
              </a:rPr>
              <a:t>general-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purpose</a:t>
            </a:r>
            <a:r>
              <a:rPr sz="20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algorithms</a:t>
            </a:r>
            <a:r>
              <a:rPr sz="20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20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33399"/>
                </a:solidFill>
                <a:latin typeface="Calibri"/>
                <a:cs typeface="Calibri"/>
              </a:rPr>
              <a:t>more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power</a:t>
            </a:r>
            <a:r>
              <a:rPr sz="20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than</a:t>
            </a:r>
            <a:r>
              <a:rPr sz="20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standard</a:t>
            </a:r>
            <a:r>
              <a:rPr sz="20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0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algorithms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5900" y="1323950"/>
            <a:ext cx="3416300" cy="256193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9209" y="4267201"/>
            <a:ext cx="4169194" cy="2000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008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CSP</a:t>
            </a:r>
            <a:r>
              <a:rPr sz="4400" spc="-70" dirty="0"/>
              <a:t> </a:t>
            </a:r>
            <a:r>
              <a:rPr sz="4400" spc="-10" dirty="0"/>
              <a:t>Examples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4786" y="1407755"/>
            <a:ext cx="5880686" cy="48410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566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Example:</a:t>
            </a:r>
            <a:r>
              <a:rPr sz="4400" spc="-145" dirty="0"/>
              <a:t> </a:t>
            </a:r>
            <a:r>
              <a:rPr sz="4400" dirty="0"/>
              <a:t>Map</a:t>
            </a:r>
            <a:r>
              <a:rPr sz="4400" spc="-145" dirty="0"/>
              <a:t> </a:t>
            </a:r>
            <a:r>
              <a:rPr sz="4400" spc="-10" dirty="0"/>
              <a:t>Coloring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14017" y="1368334"/>
            <a:ext cx="165735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6033" y="1326892"/>
            <a:ext cx="1123950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Variables: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017" y="2076467"/>
            <a:ext cx="165735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6033" y="2035023"/>
            <a:ext cx="1089025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Domains: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017" y="2784599"/>
            <a:ext cx="165735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017" y="4446275"/>
            <a:ext cx="16573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033" y="4404832"/>
            <a:ext cx="630491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Solutions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assignments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satisfying</a:t>
            </a:r>
            <a:r>
              <a:rPr sz="215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all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constraints,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e.g.: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4281" y="1266225"/>
            <a:ext cx="2951290" cy="242951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5276" y="1430115"/>
            <a:ext cx="4256247" cy="24628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6931" y="2141729"/>
            <a:ext cx="2998219" cy="28431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2517" y="5207472"/>
            <a:ext cx="5970798" cy="61680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94051" y="3378791"/>
            <a:ext cx="1175793" cy="22396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26033" y="2575189"/>
            <a:ext cx="6287135" cy="984885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Constraints: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adjacent</a:t>
            </a:r>
            <a:r>
              <a:rPr sz="21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regions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must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have</a:t>
            </a:r>
            <a:r>
              <a:rPr sz="21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different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colors</a:t>
            </a:r>
            <a:endParaRPr sz="2150">
              <a:latin typeface="Calibri"/>
              <a:cs typeface="Calibri"/>
            </a:endParaRPr>
          </a:p>
          <a:p>
            <a:pPr marL="439420">
              <a:lnSpc>
                <a:spcPct val="100000"/>
              </a:lnSpc>
              <a:spcBef>
                <a:spcPts val="1220"/>
              </a:spcBef>
            </a:pPr>
            <a:r>
              <a:rPr sz="2000" spc="-10" dirty="0">
                <a:latin typeface="Calibri"/>
                <a:cs typeface="Calibri"/>
              </a:rPr>
              <a:t>Implicit: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59542" y="3933510"/>
            <a:ext cx="4759520" cy="23472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19108" y="4242012"/>
            <a:ext cx="3752307" cy="195537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53306" y="3782321"/>
            <a:ext cx="828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Explicit: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127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Example:</a:t>
            </a:r>
            <a:r>
              <a:rPr sz="4400" spc="-190" dirty="0"/>
              <a:t> </a:t>
            </a:r>
            <a:r>
              <a:rPr sz="4400" spc="-10" dirty="0"/>
              <a:t>N-Queens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14017" y="1208568"/>
            <a:ext cx="2842260" cy="21977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35"/>
              </a:spcBef>
              <a:buFont typeface="Trebuchet MS"/>
              <a:buChar char="▪"/>
              <a:tabLst>
                <a:tab pos="380365" algn="l"/>
              </a:tabLst>
            </a:pP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Formulation</a:t>
            </a:r>
            <a:r>
              <a:rPr sz="3200" spc="-114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33399"/>
                </a:solidFill>
                <a:latin typeface="Calibri"/>
                <a:cs typeface="Calibri"/>
              </a:rPr>
              <a:t>1:</a:t>
            </a:r>
            <a:endParaRPr sz="3200">
              <a:latin typeface="Calibri"/>
              <a:cs typeface="Calibri"/>
            </a:endParaRPr>
          </a:p>
          <a:p>
            <a:pPr marL="778510" lvl="1" indent="-283845">
              <a:lnSpc>
                <a:spcPct val="100000"/>
              </a:lnSpc>
              <a:spcBef>
                <a:spcPts val="819"/>
              </a:spcBef>
              <a:buFont typeface="Trebuchet MS"/>
              <a:buChar char="▪"/>
              <a:tabLst>
                <a:tab pos="778510" algn="l"/>
              </a:tabLst>
            </a:pPr>
            <a:r>
              <a:rPr sz="2800" spc="-10" dirty="0">
                <a:latin typeface="Calibri"/>
                <a:cs typeface="Calibri"/>
              </a:rPr>
              <a:t>Variables:</a:t>
            </a:r>
            <a:endParaRPr sz="2800">
              <a:latin typeface="Calibri"/>
              <a:cs typeface="Calibri"/>
            </a:endParaRPr>
          </a:p>
          <a:p>
            <a:pPr marL="778510" lvl="1" indent="-283845">
              <a:lnSpc>
                <a:spcPct val="100000"/>
              </a:lnSpc>
              <a:spcBef>
                <a:spcPts val="715"/>
              </a:spcBef>
              <a:buFont typeface="Trebuchet MS"/>
              <a:buChar char="▪"/>
              <a:tabLst>
                <a:tab pos="778510" algn="l"/>
              </a:tabLst>
            </a:pPr>
            <a:r>
              <a:rPr sz="2800" spc="-10" dirty="0">
                <a:latin typeface="Calibri"/>
                <a:cs typeface="Calibri"/>
              </a:rPr>
              <a:t>Domains:</a:t>
            </a:r>
            <a:endParaRPr sz="2800">
              <a:latin typeface="Calibri"/>
              <a:cs typeface="Calibri"/>
            </a:endParaRPr>
          </a:p>
          <a:p>
            <a:pPr marL="778510" lvl="1" indent="-283845">
              <a:lnSpc>
                <a:spcPct val="100000"/>
              </a:lnSpc>
              <a:spcBef>
                <a:spcPts val="710"/>
              </a:spcBef>
              <a:buFont typeface="Trebuchet MS"/>
              <a:buChar char="▪"/>
              <a:tabLst>
                <a:tab pos="778510" algn="l"/>
              </a:tabLst>
            </a:pPr>
            <a:r>
              <a:rPr sz="2800" spc="-10" dirty="0">
                <a:latin typeface="Calibri"/>
                <a:cs typeface="Calibri"/>
              </a:rPr>
              <a:t>Constraints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8325" y="1561866"/>
            <a:ext cx="1945236" cy="19438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6429" y="2635625"/>
            <a:ext cx="828955" cy="319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1615" y="2147979"/>
            <a:ext cx="477959" cy="3352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97977" y="4584587"/>
            <a:ext cx="1738335" cy="6922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0488" y="4132557"/>
            <a:ext cx="6135908" cy="3632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52982" y="1555743"/>
            <a:ext cx="3959651" cy="187233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60487" y="4584644"/>
            <a:ext cx="7002160" cy="12515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127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Example:</a:t>
            </a:r>
            <a:r>
              <a:rPr sz="4400" spc="-190" dirty="0"/>
              <a:t> </a:t>
            </a:r>
            <a:r>
              <a:rPr sz="4400" spc="-10" dirty="0"/>
              <a:t>N-Queens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87017" y="1229203"/>
            <a:ext cx="2893060" cy="292925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1035"/>
              </a:spcBef>
              <a:buFont typeface="Trebuchet MS"/>
              <a:buChar char="▪"/>
              <a:tabLst>
                <a:tab pos="405765" algn="l"/>
              </a:tabLst>
            </a:pPr>
            <a:r>
              <a:rPr sz="3200" spc="-10" dirty="0">
                <a:solidFill>
                  <a:srgbClr val="333399"/>
                </a:solidFill>
                <a:latin typeface="Calibri"/>
                <a:cs typeface="Calibri"/>
              </a:rPr>
              <a:t>Formulation</a:t>
            </a:r>
            <a:r>
              <a:rPr sz="3200" spc="-114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33399"/>
                </a:solidFill>
                <a:latin typeface="Calibri"/>
                <a:cs typeface="Calibri"/>
              </a:rPr>
              <a:t>2:</a:t>
            </a:r>
            <a:endParaRPr sz="3200">
              <a:latin typeface="Calibri"/>
              <a:cs typeface="Calibri"/>
            </a:endParaRPr>
          </a:p>
          <a:p>
            <a:pPr marL="803910" lvl="1" indent="-283845">
              <a:lnSpc>
                <a:spcPct val="100000"/>
              </a:lnSpc>
              <a:spcBef>
                <a:spcPts val="819"/>
              </a:spcBef>
              <a:buFont typeface="Trebuchet MS"/>
              <a:buChar char="▪"/>
              <a:tabLst>
                <a:tab pos="803910" algn="l"/>
              </a:tabLst>
            </a:pPr>
            <a:r>
              <a:rPr sz="2800" spc="-10" dirty="0">
                <a:latin typeface="Calibri"/>
                <a:cs typeface="Calibri"/>
              </a:rPr>
              <a:t>Variables: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75"/>
              </a:spcBef>
              <a:buFont typeface="Trebuchet MS"/>
              <a:buChar char="▪"/>
            </a:pPr>
            <a:endParaRPr sz="2800">
              <a:latin typeface="Calibri"/>
              <a:cs typeface="Calibri"/>
            </a:endParaRPr>
          </a:p>
          <a:p>
            <a:pPr marL="803910" lvl="1" indent="-283845">
              <a:lnSpc>
                <a:spcPct val="100000"/>
              </a:lnSpc>
              <a:buFont typeface="Trebuchet MS"/>
              <a:buChar char="▪"/>
              <a:tabLst>
                <a:tab pos="803910" algn="l"/>
              </a:tabLst>
            </a:pPr>
            <a:r>
              <a:rPr sz="2800" spc="-10" dirty="0">
                <a:latin typeface="Calibri"/>
                <a:cs typeface="Calibri"/>
              </a:rPr>
              <a:t>Domains: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75"/>
              </a:spcBef>
              <a:buFont typeface="Trebuchet MS"/>
              <a:buChar char="▪"/>
            </a:pPr>
            <a:endParaRPr sz="2800">
              <a:latin typeface="Calibri"/>
              <a:cs typeface="Calibri"/>
            </a:endParaRPr>
          </a:p>
          <a:p>
            <a:pPr marL="803910" lvl="1" indent="-283845">
              <a:lnSpc>
                <a:spcPct val="100000"/>
              </a:lnSpc>
              <a:buFont typeface="Trebuchet MS"/>
              <a:buChar char="▪"/>
              <a:tabLst>
                <a:tab pos="803910" algn="l"/>
              </a:tabLst>
            </a:pPr>
            <a:r>
              <a:rPr sz="2800" spc="-10" dirty="0">
                <a:latin typeface="Calibri"/>
                <a:cs typeface="Calibri"/>
              </a:rPr>
              <a:t>Constraints: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2133600"/>
            <a:ext cx="395288" cy="3032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9300" y="5422618"/>
            <a:ext cx="4368800" cy="3228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4700" y="4572001"/>
            <a:ext cx="4521200" cy="3635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55831" y="3022134"/>
            <a:ext cx="1944829" cy="3002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40463" y="1638066"/>
            <a:ext cx="1945236" cy="19438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32735" y="1752602"/>
            <a:ext cx="382935" cy="28753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24801" y="2209802"/>
            <a:ext cx="411163" cy="28905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32739" y="2667002"/>
            <a:ext cx="398703" cy="30003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32739" y="3128964"/>
            <a:ext cx="411163" cy="28753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85620" y="4480255"/>
            <a:ext cx="777875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Implicit: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Explicit: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327400" y="6032500"/>
            <a:ext cx="5461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558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Constraint</a:t>
            </a:r>
            <a:r>
              <a:rPr sz="4400" spc="-190" dirty="0"/>
              <a:t> </a:t>
            </a:r>
            <a:r>
              <a:rPr sz="4400" spc="-10" dirty="0"/>
              <a:t>Graphs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7330" y="1714500"/>
            <a:ext cx="4650339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558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Constraint</a:t>
            </a:r>
            <a:r>
              <a:rPr sz="4400" spc="-190" dirty="0"/>
              <a:t> </a:t>
            </a:r>
            <a:r>
              <a:rPr sz="4400" spc="-10" dirty="0"/>
              <a:t>Graphs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90217" y="1592440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092" y="1553249"/>
            <a:ext cx="6031230" cy="7296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660"/>
              </a:lnSpc>
              <a:spcBef>
                <a:spcPts val="37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Binary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CSP: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relates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(at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most)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two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217" y="2777718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092" y="2738527"/>
            <a:ext cx="6084570" cy="7296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660"/>
              </a:lnSpc>
              <a:spcBef>
                <a:spcPts val="37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Binary</a:t>
            </a:r>
            <a:r>
              <a:rPr sz="24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r>
              <a:rPr sz="24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graph:</a:t>
            </a:r>
            <a:r>
              <a:rPr sz="24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nodes</a:t>
            </a:r>
            <a:r>
              <a:rPr sz="24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variables,</a:t>
            </a:r>
            <a:r>
              <a:rPr sz="24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show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constraints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217" y="3962998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092" y="3923807"/>
            <a:ext cx="6090285" cy="10680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660"/>
              </a:lnSpc>
              <a:spcBef>
                <a:spcPts val="370"/>
              </a:spcBef>
            </a:pP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General-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purpose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CSP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algorithms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use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graph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structure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speed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up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search.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E.g.,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Tasmania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an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independent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subproblem!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2613" y="1679387"/>
            <a:ext cx="3221768" cy="27979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357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Example:</a:t>
            </a:r>
            <a:r>
              <a:rPr sz="4400" spc="-200" dirty="0"/>
              <a:t> </a:t>
            </a:r>
            <a:r>
              <a:rPr sz="4400" spc="-10" dirty="0"/>
              <a:t>Cryptarithmetic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64817" y="1542036"/>
            <a:ext cx="2130425" cy="254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Font typeface="Trebuchet MS"/>
              <a:buChar char="▪"/>
              <a:tabLst>
                <a:tab pos="380365" algn="l"/>
              </a:tabLst>
            </a:pP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Variables: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Clr>
                <a:srgbClr val="333399"/>
              </a:buClr>
              <a:buFont typeface="Trebuchet MS"/>
              <a:buChar char="▪"/>
            </a:pPr>
            <a:endParaRPr sz="2800">
              <a:latin typeface="Calibri"/>
              <a:cs typeface="Calibri"/>
            </a:endParaRPr>
          </a:p>
          <a:p>
            <a:pPr marL="380365" indent="-342265">
              <a:lnSpc>
                <a:spcPct val="100000"/>
              </a:lnSpc>
              <a:buFont typeface="Trebuchet MS"/>
              <a:buChar char="▪"/>
              <a:tabLst>
                <a:tab pos="380365" algn="l"/>
              </a:tabLst>
            </a:pP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Domains: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Clr>
                <a:srgbClr val="333399"/>
              </a:buClr>
              <a:buFont typeface="Trebuchet MS"/>
              <a:buChar char="▪"/>
            </a:pPr>
            <a:endParaRPr sz="2800">
              <a:latin typeface="Calibri"/>
              <a:cs typeface="Calibri"/>
            </a:endParaRPr>
          </a:p>
          <a:p>
            <a:pPr marL="380365" indent="-342265">
              <a:lnSpc>
                <a:spcPct val="100000"/>
              </a:lnSpc>
              <a:spcBef>
                <a:spcPts val="5"/>
              </a:spcBef>
              <a:buFont typeface="Trebuchet MS"/>
              <a:buChar char="▪"/>
              <a:tabLst>
                <a:tab pos="380365" algn="l"/>
              </a:tabLst>
            </a:pP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Constraints: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5939" y="3734972"/>
            <a:ext cx="3804198" cy="23724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9574" y="1889652"/>
            <a:ext cx="1602358" cy="11246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" y="2281236"/>
            <a:ext cx="4114800" cy="3095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4377" y="3238502"/>
            <a:ext cx="3697363" cy="330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2" y="5021264"/>
            <a:ext cx="3314700" cy="2971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6800" y="5727435"/>
            <a:ext cx="535240" cy="621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0284" y="4344990"/>
            <a:ext cx="3465518" cy="327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654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Example:</a:t>
            </a:r>
            <a:r>
              <a:rPr sz="4400" spc="-200" dirty="0"/>
              <a:t> </a:t>
            </a:r>
            <a:r>
              <a:rPr sz="4400" spc="-10" dirty="0"/>
              <a:t>Sudoku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384302" y="1491259"/>
            <a:ext cx="4495800" cy="4724400"/>
            <a:chOff x="1384302" y="1491259"/>
            <a:chExt cx="4495800" cy="4724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4302" y="2329458"/>
              <a:ext cx="3860800" cy="3886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24200" y="1503959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0"/>
                  </a:moveTo>
                  <a:lnTo>
                    <a:pt x="457200" y="0"/>
                  </a:lnTo>
                  <a:lnTo>
                    <a:pt x="4572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50542" y="1880666"/>
              <a:ext cx="2748280" cy="770890"/>
            </a:xfrm>
            <a:custGeom>
              <a:avLst/>
              <a:gdLst/>
              <a:ahLst/>
              <a:cxnLst/>
              <a:rect l="l" t="t" r="r" b="b"/>
              <a:pathLst>
                <a:path w="2748279" h="770889">
                  <a:moveTo>
                    <a:pt x="2747899" y="762330"/>
                  </a:moveTo>
                  <a:lnTo>
                    <a:pt x="1604886" y="330"/>
                  </a:lnTo>
                  <a:lnTo>
                    <a:pt x="1602232" y="4292"/>
                  </a:lnTo>
                  <a:lnTo>
                    <a:pt x="1600200" y="0"/>
                  </a:lnTo>
                  <a:lnTo>
                    <a:pt x="0" y="762000"/>
                  </a:lnTo>
                  <a:lnTo>
                    <a:pt x="4102" y="770597"/>
                  </a:lnTo>
                  <a:lnTo>
                    <a:pt x="1529016" y="44450"/>
                  </a:lnTo>
                  <a:lnTo>
                    <a:pt x="380530" y="762254"/>
                  </a:lnTo>
                  <a:lnTo>
                    <a:pt x="385572" y="770331"/>
                  </a:lnTo>
                  <a:lnTo>
                    <a:pt x="1559839" y="36410"/>
                  </a:lnTo>
                  <a:lnTo>
                    <a:pt x="760844" y="762774"/>
                  </a:lnTo>
                  <a:lnTo>
                    <a:pt x="767257" y="769823"/>
                  </a:lnTo>
                  <a:lnTo>
                    <a:pt x="1581518" y="29591"/>
                  </a:lnTo>
                  <a:lnTo>
                    <a:pt x="1140968" y="763841"/>
                  </a:lnTo>
                  <a:lnTo>
                    <a:pt x="1149134" y="768743"/>
                  </a:lnTo>
                  <a:lnTo>
                    <a:pt x="1599018" y="18923"/>
                  </a:lnTo>
                  <a:lnTo>
                    <a:pt x="1595894" y="767867"/>
                  </a:lnTo>
                  <a:lnTo>
                    <a:pt x="1605419" y="767905"/>
                  </a:lnTo>
                  <a:lnTo>
                    <a:pt x="1608543" y="17348"/>
                  </a:lnTo>
                  <a:lnTo>
                    <a:pt x="2360879" y="769658"/>
                  </a:lnTo>
                  <a:lnTo>
                    <a:pt x="2367623" y="762927"/>
                  </a:lnTo>
                  <a:lnTo>
                    <a:pt x="1639646" y="34950"/>
                  </a:lnTo>
                  <a:lnTo>
                    <a:pt x="2742603" y="770255"/>
                  </a:lnTo>
                  <a:lnTo>
                    <a:pt x="2747899" y="7623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400" y="4094759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380998" y="0"/>
                  </a:moveTo>
                  <a:lnTo>
                    <a:pt x="380998" y="457199"/>
                  </a:lnTo>
                  <a:lnTo>
                    <a:pt x="0" y="457199"/>
                  </a:lnTo>
                  <a:lnTo>
                    <a:pt x="0" y="0"/>
                  </a:lnTo>
                  <a:lnTo>
                    <a:pt x="380998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88015" y="1956930"/>
              <a:ext cx="1341120" cy="3968750"/>
            </a:xfrm>
            <a:custGeom>
              <a:avLst/>
              <a:gdLst/>
              <a:ahLst/>
              <a:cxnLst/>
              <a:rect l="l" t="t" r="r" b="b"/>
              <a:pathLst>
                <a:path w="1341120" h="3968750">
                  <a:moveTo>
                    <a:pt x="1340904" y="5981"/>
                  </a:moveTo>
                  <a:lnTo>
                    <a:pt x="1336446" y="4229"/>
                  </a:lnTo>
                  <a:lnTo>
                    <a:pt x="1334300" y="0"/>
                  </a:lnTo>
                  <a:lnTo>
                    <a:pt x="800" y="685800"/>
                  </a:lnTo>
                  <a:lnTo>
                    <a:pt x="5156" y="694270"/>
                  </a:lnTo>
                  <a:lnTo>
                    <a:pt x="1263751" y="46990"/>
                  </a:lnTo>
                  <a:lnTo>
                    <a:pt x="305142" y="686066"/>
                  </a:lnTo>
                  <a:lnTo>
                    <a:pt x="310426" y="693991"/>
                  </a:lnTo>
                  <a:lnTo>
                    <a:pt x="1247749" y="69126"/>
                  </a:lnTo>
                  <a:lnTo>
                    <a:pt x="0" y="1067320"/>
                  </a:lnTo>
                  <a:lnTo>
                    <a:pt x="5956" y="1074750"/>
                  </a:lnTo>
                  <a:lnTo>
                    <a:pt x="1295095" y="43446"/>
                  </a:lnTo>
                  <a:lnTo>
                    <a:pt x="380428" y="1067866"/>
                  </a:lnTo>
                  <a:lnTo>
                    <a:pt x="387527" y="1074204"/>
                  </a:lnTo>
                  <a:lnTo>
                    <a:pt x="1309293" y="41821"/>
                  </a:lnTo>
                  <a:lnTo>
                    <a:pt x="1308379" y="43408"/>
                  </a:lnTo>
                  <a:lnTo>
                    <a:pt x="1308379" y="62458"/>
                  </a:lnTo>
                  <a:lnTo>
                    <a:pt x="1300670" y="81978"/>
                  </a:lnTo>
                  <a:lnTo>
                    <a:pt x="1298105" y="80264"/>
                  </a:lnTo>
                  <a:lnTo>
                    <a:pt x="1308379" y="62458"/>
                  </a:lnTo>
                  <a:lnTo>
                    <a:pt x="1308379" y="43408"/>
                  </a:lnTo>
                  <a:lnTo>
                    <a:pt x="1250835" y="143154"/>
                  </a:lnTo>
                  <a:lnTo>
                    <a:pt x="380009" y="1449400"/>
                  </a:lnTo>
                  <a:lnTo>
                    <a:pt x="387946" y="1454683"/>
                  </a:lnTo>
                  <a:lnTo>
                    <a:pt x="1177163" y="270840"/>
                  </a:lnTo>
                  <a:lnTo>
                    <a:pt x="760857" y="992454"/>
                  </a:lnTo>
                  <a:lnTo>
                    <a:pt x="769099" y="997216"/>
                  </a:lnTo>
                  <a:lnTo>
                    <a:pt x="1258836" y="148336"/>
                  </a:lnTo>
                  <a:lnTo>
                    <a:pt x="1297190" y="90805"/>
                  </a:lnTo>
                  <a:lnTo>
                    <a:pt x="827328" y="1281112"/>
                  </a:lnTo>
                  <a:lnTo>
                    <a:pt x="767753" y="1145324"/>
                  </a:lnTo>
                  <a:lnTo>
                    <a:pt x="759028" y="1149146"/>
                  </a:lnTo>
                  <a:lnTo>
                    <a:pt x="822401" y="1293596"/>
                  </a:lnTo>
                  <a:lnTo>
                    <a:pt x="760552" y="1450289"/>
                  </a:lnTo>
                  <a:lnTo>
                    <a:pt x="769404" y="1453781"/>
                  </a:lnTo>
                  <a:lnTo>
                    <a:pt x="827786" y="1305864"/>
                  </a:lnTo>
                  <a:lnTo>
                    <a:pt x="1269288" y="2312022"/>
                  </a:lnTo>
                  <a:lnTo>
                    <a:pt x="767410" y="1525676"/>
                  </a:lnTo>
                  <a:lnTo>
                    <a:pt x="759371" y="1530794"/>
                  </a:lnTo>
                  <a:lnTo>
                    <a:pt x="1277137" y="2342019"/>
                  </a:lnTo>
                  <a:lnTo>
                    <a:pt x="766483" y="1905609"/>
                  </a:lnTo>
                  <a:lnTo>
                    <a:pt x="760298" y="1912861"/>
                  </a:lnTo>
                  <a:lnTo>
                    <a:pt x="1291983" y="2367267"/>
                  </a:lnTo>
                  <a:lnTo>
                    <a:pt x="759498" y="3125698"/>
                  </a:lnTo>
                  <a:lnTo>
                    <a:pt x="767283" y="3131172"/>
                  </a:lnTo>
                  <a:lnTo>
                    <a:pt x="1274826" y="2408263"/>
                  </a:lnTo>
                  <a:lnTo>
                    <a:pt x="759028" y="3583724"/>
                  </a:lnTo>
                  <a:lnTo>
                    <a:pt x="767753" y="3587546"/>
                  </a:lnTo>
                  <a:lnTo>
                    <a:pt x="1260589" y="2464397"/>
                  </a:lnTo>
                  <a:lnTo>
                    <a:pt x="758875" y="3965130"/>
                  </a:lnTo>
                  <a:lnTo>
                    <a:pt x="767905" y="3968140"/>
                  </a:lnTo>
                  <a:lnTo>
                    <a:pt x="1302893" y="2367940"/>
                  </a:lnTo>
                  <a:lnTo>
                    <a:pt x="1298486" y="2366492"/>
                  </a:lnTo>
                  <a:lnTo>
                    <a:pt x="1302740" y="2364524"/>
                  </a:lnTo>
                  <a:lnTo>
                    <a:pt x="832713" y="1293380"/>
                  </a:lnTo>
                  <a:lnTo>
                    <a:pt x="1340904" y="59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10019" y="153437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1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52901" y="1440274"/>
            <a:ext cx="2263140" cy="176022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-10" dirty="0">
                <a:solidFill>
                  <a:srgbClr val="333399"/>
                </a:solidFill>
                <a:latin typeface="Calibri"/>
                <a:cs typeface="Calibri"/>
              </a:rPr>
              <a:t>Variables:</a:t>
            </a:r>
            <a:endParaRPr sz="1800">
              <a:latin typeface="Calibri"/>
              <a:cs typeface="Calibri"/>
            </a:endParaRPr>
          </a:p>
          <a:p>
            <a:pPr marL="12700" marR="5080" indent="456565">
              <a:lnSpc>
                <a:spcPct val="126499"/>
              </a:lnSpc>
              <a:buFont typeface="Trebuchet MS"/>
              <a:buChar char="▪"/>
              <a:tabLst>
                <a:tab pos="469265" algn="l"/>
              </a:tabLst>
            </a:pPr>
            <a:r>
              <a:rPr sz="180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18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33399"/>
                </a:solidFill>
                <a:latin typeface="Calibri"/>
                <a:cs typeface="Calibri"/>
              </a:rPr>
              <a:t>(open)</a:t>
            </a:r>
            <a:r>
              <a:rPr sz="18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99"/>
                </a:solidFill>
                <a:latin typeface="Calibri"/>
                <a:cs typeface="Calibri"/>
              </a:rPr>
              <a:t>square Domains:</a:t>
            </a:r>
            <a:endParaRPr sz="1800">
              <a:latin typeface="Calibri"/>
              <a:cs typeface="Calibri"/>
            </a:endParaRPr>
          </a:p>
          <a:p>
            <a:pPr marL="469265" indent="-342900">
              <a:lnSpc>
                <a:spcPct val="100000"/>
              </a:lnSpc>
              <a:spcBef>
                <a:spcPts val="570"/>
              </a:spcBef>
              <a:buFont typeface="Trebuchet MS"/>
              <a:buChar char="▪"/>
              <a:tabLst>
                <a:tab pos="469265" algn="l"/>
              </a:tabLst>
            </a:pPr>
            <a:r>
              <a:rPr sz="1800" spc="-10" dirty="0">
                <a:solidFill>
                  <a:srgbClr val="333399"/>
                </a:solidFill>
                <a:latin typeface="Calibri"/>
                <a:cs typeface="Calibri"/>
              </a:rPr>
              <a:t>{1,2,…,9}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spc="-10" dirty="0">
                <a:solidFill>
                  <a:srgbClr val="333399"/>
                </a:solidFill>
                <a:latin typeface="Calibri"/>
                <a:cs typeface="Calibri"/>
              </a:rPr>
              <a:t>Constraints: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10019" y="22283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1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10019" y="292222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1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34000" y="15801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0"/>
                </a:move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lnTo>
                  <a:pt x="38100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199515" y="3575827"/>
            <a:ext cx="3006090" cy="250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66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9-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alldiff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column 9-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alldiff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row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Calibri"/>
                <a:cs typeface="Calibri"/>
              </a:rPr>
              <a:t>9-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alldiff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region</a:t>
            </a:r>
            <a:endParaRPr sz="2000">
              <a:latin typeface="Calibri"/>
              <a:cs typeface="Calibri"/>
            </a:endParaRPr>
          </a:p>
          <a:p>
            <a:pPr marL="12700" marR="57404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libri"/>
                <a:cs typeface="Calibri"/>
              </a:rPr>
              <a:t>(or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bunch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pairwise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inequality constraints)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576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Varieties</a:t>
            </a:r>
            <a:r>
              <a:rPr sz="4400" spc="-100" dirty="0"/>
              <a:t> </a:t>
            </a:r>
            <a:r>
              <a:rPr sz="4400" dirty="0"/>
              <a:t>of</a:t>
            </a:r>
            <a:r>
              <a:rPr sz="4400" spc="-100" dirty="0"/>
              <a:t> </a:t>
            </a:r>
            <a:r>
              <a:rPr sz="4400" spc="-20" dirty="0"/>
              <a:t>CSPs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39417" y="1389241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292" y="1350049"/>
            <a:ext cx="2228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Discrete</a:t>
            </a:r>
            <a:r>
              <a:rPr sz="2400" spc="-1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583" y="3099487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40" dirty="0"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183" y="1677426"/>
            <a:ext cx="6805930" cy="237553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750"/>
              </a:spcBef>
              <a:buFont typeface="Trebuchet MS"/>
              <a:buChar char="▪"/>
              <a:tabLst>
                <a:tab pos="323215" algn="l"/>
              </a:tabLst>
            </a:pPr>
            <a:r>
              <a:rPr sz="2000" dirty="0">
                <a:latin typeface="Calibri"/>
                <a:cs typeface="Calibri"/>
              </a:rPr>
              <a:t>Finite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domains</a:t>
            </a:r>
            <a:endParaRPr sz="2000">
              <a:latin typeface="Calibri"/>
              <a:cs typeface="Calibri"/>
            </a:endParaRPr>
          </a:p>
          <a:p>
            <a:pPr marL="723265" lvl="1" indent="-228600">
              <a:lnSpc>
                <a:spcPct val="100000"/>
              </a:lnSpc>
              <a:spcBef>
                <a:spcPts val="655"/>
              </a:spcBef>
              <a:buClr>
                <a:srgbClr val="333399"/>
              </a:buClr>
              <a:buFont typeface="Trebuchet MS"/>
              <a:buChar char="▪"/>
              <a:tabLst>
                <a:tab pos="723265" algn="l"/>
              </a:tabLst>
            </a:pPr>
            <a:r>
              <a:rPr sz="2850" baseline="1461" dirty="0">
                <a:latin typeface="Calibri"/>
                <a:cs typeface="Calibri"/>
              </a:rPr>
              <a:t>Size</a:t>
            </a:r>
            <a:r>
              <a:rPr sz="2850" spc="-60" baseline="1461" dirty="0">
                <a:latin typeface="Calibri"/>
                <a:cs typeface="Calibri"/>
              </a:rPr>
              <a:t> </a:t>
            </a:r>
            <a:r>
              <a:rPr sz="3000" i="1" baseline="1388" dirty="0">
                <a:latin typeface="Times New Roman"/>
                <a:cs typeface="Times New Roman"/>
              </a:rPr>
              <a:t>d</a:t>
            </a:r>
            <a:r>
              <a:rPr sz="3000" i="1" spc="-157" baseline="1388" dirty="0">
                <a:latin typeface="Times New Roman"/>
                <a:cs typeface="Times New Roman"/>
              </a:rPr>
              <a:t> </a:t>
            </a:r>
            <a:r>
              <a:rPr sz="2850" baseline="1461" dirty="0">
                <a:latin typeface="Calibri"/>
                <a:cs typeface="Calibri"/>
              </a:rPr>
              <a:t>means</a:t>
            </a:r>
            <a:r>
              <a:rPr sz="2850" spc="-44" baseline="1461" dirty="0">
                <a:latin typeface="Calibri"/>
                <a:cs typeface="Calibri"/>
              </a:rPr>
              <a:t> </a:t>
            </a:r>
            <a:r>
              <a:rPr sz="3000" baseline="1388" dirty="0">
                <a:latin typeface="Times New Roman"/>
                <a:cs typeface="Times New Roman"/>
              </a:rPr>
              <a:t>O(</a:t>
            </a:r>
            <a:r>
              <a:rPr sz="3000" i="1" baseline="1388" dirty="0">
                <a:latin typeface="Times New Roman"/>
                <a:cs typeface="Times New Roman"/>
              </a:rPr>
              <a:t>d</a:t>
            </a:r>
            <a:r>
              <a:rPr sz="1950" i="1" baseline="19230" dirty="0">
                <a:latin typeface="Times New Roman"/>
                <a:cs typeface="Times New Roman"/>
              </a:rPr>
              <a:t>n</a:t>
            </a:r>
            <a:r>
              <a:rPr sz="3000" baseline="1388" dirty="0">
                <a:latin typeface="Times New Roman"/>
                <a:cs typeface="Times New Roman"/>
              </a:rPr>
              <a:t>)</a:t>
            </a:r>
            <a:r>
              <a:rPr sz="3000" spc="-165" baseline="1388" dirty="0">
                <a:latin typeface="Times New Roman"/>
                <a:cs typeface="Times New Roman"/>
              </a:rPr>
              <a:t> </a:t>
            </a:r>
            <a:r>
              <a:rPr sz="2850" spc="-15" baseline="1461" dirty="0">
                <a:latin typeface="Calibri"/>
                <a:cs typeface="Calibri"/>
              </a:rPr>
              <a:t>complete</a:t>
            </a:r>
            <a:r>
              <a:rPr sz="2850" spc="-44" baseline="1461" dirty="0">
                <a:latin typeface="Calibri"/>
                <a:cs typeface="Calibri"/>
              </a:rPr>
              <a:t> </a:t>
            </a:r>
            <a:r>
              <a:rPr sz="2850" spc="-15" baseline="1461" dirty="0">
                <a:latin typeface="Calibri"/>
                <a:cs typeface="Calibri"/>
              </a:rPr>
              <a:t>assignments</a:t>
            </a:r>
            <a:endParaRPr sz="2850" baseline="1461">
              <a:latin typeface="Calibri"/>
              <a:cs typeface="Calibri"/>
            </a:endParaRPr>
          </a:p>
          <a:p>
            <a:pPr marL="723265" marR="735965" lvl="1" indent="-228600">
              <a:lnSpc>
                <a:spcPts val="2110"/>
              </a:lnSpc>
              <a:spcBef>
                <a:spcPts val="395"/>
              </a:spcBef>
              <a:buClr>
                <a:srgbClr val="333399"/>
              </a:buClr>
              <a:buFont typeface="Trebuchet MS"/>
              <a:buChar char="▪"/>
              <a:tabLst>
                <a:tab pos="723265" algn="l"/>
              </a:tabLst>
            </a:pPr>
            <a:r>
              <a:rPr sz="1900" dirty="0">
                <a:latin typeface="Calibri"/>
                <a:cs typeface="Calibri"/>
              </a:rPr>
              <a:t>E.g.,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Boolean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CSPs,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including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Boolean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satisfiability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(NP- </a:t>
            </a:r>
            <a:r>
              <a:rPr sz="1900" spc="-10" dirty="0">
                <a:latin typeface="Calibri"/>
                <a:cs typeface="Calibri"/>
              </a:rPr>
              <a:t>complete)</a:t>
            </a:r>
            <a:endParaRPr sz="19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25"/>
              </a:spcBef>
            </a:pPr>
            <a:r>
              <a:rPr sz="2000" dirty="0">
                <a:latin typeface="Calibri"/>
                <a:cs typeface="Calibri"/>
              </a:rPr>
              <a:t>Infinite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domains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(integers,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strings,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etc.)</a:t>
            </a:r>
            <a:endParaRPr sz="2000">
              <a:latin typeface="Calibri"/>
              <a:cs typeface="Calibri"/>
            </a:endParaRPr>
          </a:p>
          <a:p>
            <a:pPr marL="723265" lvl="1" indent="-228600">
              <a:lnSpc>
                <a:spcPct val="100000"/>
              </a:lnSpc>
              <a:spcBef>
                <a:spcPts val="310"/>
              </a:spcBef>
              <a:buClr>
                <a:srgbClr val="333399"/>
              </a:buClr>
              <a:buFont typeface="Trebuchet MS"/>
              <a:buChar char="▪"/>
              <a:tabLst>
                <a:tab pos="723265" algn="l"/>
              </a:tabLst>
            </a:pPr>
            <a:r>
              <a:rPr sz="1900" dirty="0">
                <a:latin typeface="Calibri"/>
                <a:cs typeface="Calibri"/>
              </a:rPr>
              <a:t>E.g.,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job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scheduling,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variables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start/end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job</a:t>
            </a:r>
            <a:endParaRPr sz="1900">
              <a:latin typeface="Calibri"/>
              <a:cs typeface="Calibri"/>
            </a:endParaRPr>
          </a:p>
          <a:p>
            <a:pPr marL="723265" lvl="1" indent="-228600">
              <a:lnSpc>
                <a:spcPct val="100000"/>
              </a:lnSpc>
              <a:spcBef>
                <a:spcPts val="285"/>
              </a:spcBef>
              <a:buClr>
                <a:srgbClr val="333399"/>
              </a:buClr>
              <a:buFont typeface="Trebuchet MS"/>
              <a:buChar char="▪"/>
              <a:tabLst>
                <a:tab pos="723265" algn="l"/>
              </a:tabLst>
            </a:pPr>
            <a:r>
              <a:rPr sz="1900" dirty="0">
                <a:latin typeface="Calibri"/>
                <a:cs typeface="Calibri"/>
              </a:rPr>
              <a:t>Linear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constraints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solvable,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nonlinear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undecidable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9417" y="4536931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2292" y="4497740"/>
            <a:ext cx="2609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Continuous</a:t>
            </a:r>
            <a:r>
              <a:rPr sz="2400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6583" y="4903624"/>
            <a:ext cx="154305" cy="70739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2000" spc="240" dirty="0"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000" spc="240" dirty="0"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2313" y="4872023"/>
            <a:ext cx="6307455" cy="70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E.g.,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start/end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Hubble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Telescope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observations </a:t>
            </a:r>
            <a:r>
              <a:rPr sz="2000" dirty="0">
                <a:latin typeface="Calibri"/>
                <a:cs typeface="Calibri"/>
              </a:rPr>
              <a:t>Linear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constraints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solvable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polynomial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methods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3348" y="1567041"/>
            <a:ext cx="2470891" cy="20780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40650" y="4043156"/>
            <a:ext cx="2398886" cy="19899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3285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Varieties</a:t>
            </a:r>
            <a:r>
              <a:rPr sz="4400" spc="-100" dirty="0"/>
              <a:t> </a:t>
            </a:r>
            <a:r>
              <a:rPr sz="4400" dirty="0"/>
              <a:t>of</a:t>
            </a:r>
            <a:r>
              <a:rPr sz="4400" spc="-100" dirty="0"/>
              <a:t> </a:t>
            </a:r>
            <a:r>
              <a:rPr sz="4400" spc="-10" dirty="0"/>
              <a:t>Constraints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90217" y="1607939"/>
            <a:ext cx="137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20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118" y="1574921"/>
            <a:ext cx="6069330" cy="7670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spc="-20" dirty="0">
                <a:solidFill>
                  <a:srgbClr val="333399"/>
                </a:solidFill>
                <a:latin typeface="Calibri"/>
                <a:cs typeface="Calibri"/>
              </a:rPr>
              <a:t>Varieties</a:t>
            </a:r>
            <a:r>
              <a:rPr sz="175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175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333399"/>
                </a:solidFill>
                <a:latin typeface="Calibri"/>
                <a:cs typeface="Calibri"/>
              </a:rPr>
              <a:t>Constraints</a:t>
            </a:r>
            <a:endParaRPr sz="1750">
              <a:latin typeface="Calibri"/>
              <a:cs typeface="Calibri"/>
            </a:endParaRPr>
          </a:p>
          <a:p>
            <a:pPr marL="445134" marR="30480" indent="-248920">
              <a:lnSpc>
                <a:spcPts val="1670"/>
              </a:lnSpc>
              <a:spcBef>
                <a:spcPts val="405"/>
              </a:spcBef>
              <a:buFont typeface="Trebuchet MS"/>
              <a:buChar char="▪"/>
              <a:tabLst>
                <a:tab pos="445134" algn="l"/>
              </a:tabLst>
            </a:pPr>
            <a:r>
              <a:rPr sz="1650" dirty="0">
                <a:latin typeface="Calibri"/>
                <a:cs typeface="Calibri"/>
              </a:rPr>
              <a:t>Unary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constraints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involve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single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variable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(equivalent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reducing </a:t>
            </a:r>
            <a:r>
              <a:rPr sz="1650" dirty="0">
                <a:latin typeface="Calibri"/>
                <a:cs typeface="Calibri"/>
              </a:rPr>
              <a:t>domains),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e.g.: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383" y="2936422"/>
            <a:ext cx="13208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85" dirty="0">
                <a:latin typeface="Trebuchet MS"/>
                <a:cs typeface="Trebuchet MS"/>
              </a:rPr>
              <a:t>▪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5968" y="2911406"/>
            <a:ext cx="4157979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libri"/>
                <a:cs typeface="Calibri"/>
              </a:rPr>
              <a:t>Binary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constraints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involve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pairs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variables,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e.g.: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7383" y="3815213"/>
            <a:ext cx="13208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85" dirty="0">
                <a:latin typeface="Trebuchet MS"/>
                <a:cs typeface="Trebuchet MS"/>
              </a:rPr>
              <a:t>▪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5968" y="3790196"/>
            <a:ext cx="4502785" cy="5403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63220" marR="5080" indent="-351155">
              <a:lnSpc>
                <a:spcPct val="104500"/>
              </a:lnSpc>
              <a:spcBef>
                <a:spcPts val="10"/>
              </a:spcBef>
            </a:pPr>
            <a:r>
              <a:rPr sz="1650" spc="-10" dirty="0">
                <a:latin typeface="Calibri"/>
                <a:cs typeface="Calibri"/>
              </a:rPr>
              <a:t>Higher-</a:t>
            </a:r>
            <a:r>
              <a:rPr sz="1650" dirty="0">
                <a:latin typeface="Calibri"/>
                <a:cs typeface="Calibri"/>
              </a:rPr>
              <a:t>order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constraints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involve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3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or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more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variables: </a:t>
            </a:r>
            <a:r>
              <a:rPr sz="1650" dirty="0">
                <a:latin typeface="Calibri"/>
                <a:cs typeface="Calibri"/>
              </a:rPr>
              <a:t>e.g.,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cryptarithmetic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column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constraints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217" y="4655986"/>
            <a:ext cx="137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20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8518" y="4622968"/>
            <a:ext cx="270700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20" dirty="0">
                <a:solidFill>
                  <a:srgbClr val="333399"/>
                </a:solidFill>
                <a:latin typeface="Calibri"/>
                <a:cs typeface="Calibri"/>
              </a:rPr>
              <a:t>Preferences</a:t>
            </a:r>
            <a:r>
              <a:rPr sz="175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333399"/>
                </a:solidFill>
                <a:latin typeface="Calibri"/>
                <a:cs typeface="Calibri"/>
              </a:rPr>
              <a:t>(soft</a:t>
            </a:r>
            <a:r>
              <a:rPr sz="175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333399"/>
                </a:solidFill>
                <a:latin typeface="Calibri"/>
                <a:cs typeface="Calibri"/>
              </a:rPr>
              <a:t>constraints):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7383" y="4925033"/>
            <a:ext cx="132080" cy="106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85" dirty="0">
                <a:latin typeface="Trebuchet MS"/>
                <a:cs typeface="Trebuchet MS"/>
              </a:rPr>
              <a:t>▪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185" dirty="0">
                <a:latin typeface="Trebuchet MS"/>
                <a:cs typeface="Trebuchet MS"/>
              </a:rPr>
              <a:t>▪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185" dirty="0">
                <a:latin typeface="Trebuchet MS"/>
                <a:cs typeface="Trebuchet MS"/>
              </a:rPr>
              <a:t>▪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185" dirty="0">
                <a:latin typeface="Trebuchet MS"/>
                <a:cs typeface="Trebuchet MS"/>
              </a:rPr>
              <a:t>▪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5968" y="4900016"/>
            <a:ext cx="5027930" cy="106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latin typeface="Calibri"/>
                <a:cs typeface="Calibri"/>
              </a:rPr>
              <a:t>E.g.,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red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is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better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than</a:t>
            </a:r>
            <a:r>
              <a:rPr sz="1650" spc="-20" dirty="0">
                <a:latin typeface="Calibri"/>
                <a:cs typeface="Calibri"/>
              </a:rPr>
              <a:t> green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04500"/>
              </a:lnSpc>
            </a:pPr>
            <a:r>
              <a:rPr sz="1650" dirty="0">
                <a:latin typeface="Calibri"/>
                <a:cs typeface="Calibri"/>
              </a:rPr>
              <a:t>Often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representable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by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cost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for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each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variable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assignment </a:t>
            </a:r>
            <a:r>
              <a:rPr sz="1650" dirty="0">
                <a:latin typeface="Calibri"/>
                <a:cs typeface="Calibri"/>
              </a:rPr>
              <a:t>Gives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constrained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optimization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problems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dirty="0">
                <a:latin typeface="Calibri"/>
                <a:cs typeface="Calibri"/>
              </a:rPr>
              <a:t>(We’ll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ignore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these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until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get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Bayes’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nets)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5112" y="2617786"/>
            <a:ext cx="1640378" cy="27789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6915" y="3455987"/>
            <a:ext cx="1404637" cy="27784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59918" y="1473536"/>
            <a:ext cx="4889182" cy="3301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635">
              <a:lnSpc>
                <a:spcPct val="100000"/>
              </a:lnSpc>
              <a:spcBef>
                <a:spcPts val="100"/>
              </a:spcBef>
            </a:pPr>
            <a:r>
              <a:rPr sz="4400" spc="-35" dirty="0"/>
              <a:t>Real-</a:t>
            </a:r>
            <a:r>
              <a:rPr sz="4400" spc="-10" dirty="0"/>
              <a:t>World</a:t>
            </a:r>
            <a:r>
              <a:rPr sz="4400" spc="-175" dirty="0"/>
              <a:t> </a:t>
            </a:r>
            <a:r>
              <a:rPr sz="4400" spc="-20" dirty="0"/>
              <a:t>CSPs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39417" y="1356706"/>
            <a:ext cx="165735" cy="29845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433" y="1315263"/>
            <a:ext cx="7623175" cy="29845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Assignment</a:t>
            </a:r>
            <a:r>
              <a:rPr sz="2150" spc="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problems: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e.g.,</a:t>
            </a:r>
            <a:r>
              <a:rPr sz="2150" spc="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who</a:t>
            </a:r>
            <a:r>
              <a:rPr sz="2150" spc="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teaches</a:t>
            </a:r>
            <a:r>
              <a:rPr sz="2150" spc="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class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12900"/>
              </a:lnSpc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Timetabling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problems: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e.g.,</a:t>
            </a:r>
            <a:r>
              <a:rPr sz="2150" spc="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which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class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offered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when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sz="2150" spc="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where?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Hardware</a:t>
            </a:r>
            <a:r>
              <a:rPr sz="215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configuration</a:t>
            </a:r>
            <a:endParaRPr sz="2150">
              <a:latin typeface="Calibri"/>
              <a:cs typeface="Calibri"/>
            </a:endParaRPr>
          </a:p>
          <a:p>
            <a:pPr marL="12700" marR="4681855">
              <a:lnSpc>
                <a:spcPct val="112900"/>
              </a:lnSpc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Transportation</a:t>
            </a:r>
            <a:r>
              <a:rPr sz="2150" spc="-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scheduling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Factory</a:t>
            </a:r>
            <a:r>
              <a:rPr sz="215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scheduling</a:t>
            </a:r>
            <a:endParaRPr sz="2150">
              <a:latin typeface="Calibri"/>
              <a:cs typeface="Calibri"/>
            </a:endParaRPr>
          </a:p>
          <a:p>
            <a:pPr marL="12700" marR="5939155">
              <a:lnSpc>
                <a:spcPct val="112900"/>
              </a:lnSpc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Circuit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layout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Fault</a:t>
            </a:r>
            <a:r>
              <a:rPr sz="2150" spc="-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diagnosis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…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lots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more!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417" y="5528874"/>
            <a:ext cx="16573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433" y="5487431"/>
            <a:ext cx="644715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Many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real-world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involve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real-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valued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variables…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401" y="2603693"/>
            <a:ext cx="6172197" cy="27650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502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Solving</a:t>
            </a:r>
            <a:r>
              <a:rPr sz="4400" spc="-135" dirty="0"/>
              <a:t> </a:t>
            </a:r>
            <a:r>
              <a:rPr sz="4400" spc="-20" dirty="0"/>
              <a:t>CSPs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274" y="1600498"/>
            <a:ext cx="8675924" cy="45268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082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Standard</a:t>
            </a:r>
            <a:r>
              <a:rPr sz="4400" spc="-185" dirty="0"/>
              <a:t> </a:t>
            </a:r>
            <a:r>
              <a:rPr sz="4400" dirty="0"/>
              <a:t>Search</a:t>
            </a:r>
            <a:r>
              <a:rPr sz="4400" spc="-185" dirty="0"/>
              <a:t> </a:t>
            </a:r>
            <a:r>
              <a:rPr sz="4400" spc="-10" dirty="0"/>
              <a:t>Formulation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63217" y="1403084"/>
            <a:ext cx="5937885" cy="4574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8620" indent="-325120">
              <a:lnSpc>
                <a:spcPct val="100000"/>
              </a:lnSpc>
              <a:spcBef>
                <a:spcPts val="110"/>
              </a:spcBef>
              <a:buFont typeface="Trebuchet MS"/>
              <a:buChar char="▪"/>
              <a:tabLst>
                <a:tab pos="388620" algn="l"/>
              </a:tabLst>
            </a:pP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Standard</a:t>
            </a:r>
            <a:r>
              <a:rPr sz="265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65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formulation</a:t>
            </a:r>
            <a:r>
              <a:rPr sz="265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65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spc="-20" dirty="0">
                <a:solidFill>
                  <a:srgbClr val="333399"/>
                </a:solidFill>
                <a:latin typeface="Calibri"/>
                <a:cs typeface="Calibri"/>
              </a:rPr>
              <a:t>CSPs</a:t>
            </a:r>
            <a:endParaRPr sz="2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  <a:buClr>
                <a:srgbClr val="333399"/>
              </a:buClr>
              <a:buFont typeface="Trebuchet MS"/>
              <a:buChar char="▪"/>
            </a:pPr>
            <a:endParaRPr sz="2650">
              <a:latin typeface="Calibri"/>
              <a:cs typeface="Calibri"/>
            </a:endParaRPr>
          </a:p>
          <a:p>
            <a:pPr marL="388620" marR="55880" indent="-325755">
              <a:lnSpc>
                <a:spcPts val="2760"/>
              </a:lnSpc>
              <a:buFont typeface="Trebuchet MS"/>
              <a:buChar char="▪"/>
              <a:tabLst>
                <a:tab pos="388620" algn="l"/>
              </a:tabLst>
            </a:pP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States</a:t>
            </a:r>
            <a:r>
              <a:rPr sz="265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defined</a:t>
            </a:r>
            <a:r>
              <a:rPr sz="265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by</a:t>
            </a:r>
            <a:r>
              <a:rPr sz="265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65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r>
              <a:rPr sz="265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assigned</a:t>
            </a:r>
            <a:r>
              <a:rPr sz="265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spc="-25" dirty="0">
                <a:solidFill>
                  <a:srgbClr val="333399"/>
                </a:solidFill>
                <a:latin typeface="Calibri"/>
                <a:cs typeface="Calibri"/>
              </a:rPr>
              <a:t>so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far</a:t>
            </a:r>
            <a:r>
              <a:rPr sz="265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(partial</a:t>
            </a:r>
            <a:r>
              <a:rPr sz="265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333399"/>
                </a:solidFill>
                <a:latin typeface="Calibri"/>
                <a:cs typeface="Calibri"/>
              </a:rPr>
              <a:t>assignments)</a:t>
            </a:r>
            <a:endParaRPr sz="2650">
              <a:latin typeface="Calibri"/>
              <a:cs typeface="Calibri"/>
            </a:endParaRPr>
          </a:p>
          <a:p>
            <a:pPr marL="790575" lvl="1" indent="-270510">
              <a:lnSpc>
                <a:spcPct val="100000"/>
              </a:lnSpc>
              <a:spcBef>
                <a:spcPts val="175"/>
              </a:spcBef>
              <a:buFont typeface="Trebuchet MS"/>
              <a:buChar char="▪"/>
              <a:tabLst>
                <a:tab pos="790575" algn="l"/>
              </a:tabLst>
            </a:pPr>
            <a:r>
              <a:rPr sz="2250" dirty="0">
                <a:latin typeface="Calibri"/>
                <a:cs typeface="Calibri"/>
              </a:rPr>
              <a:t>Initial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state: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empty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assignment,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{}</a:t>
            </a:r>
            <a:endParaRPr sz="2250">
              <a:latin typeface="Calibri"/>
              <a:cs typeface="Calibri"/>
            </a:endParaRPr>
          </a:p>
          <a:p>
            <a:pPr marL="790575" marR="506095" lvl="1" indent="-270510">
              <a:lnSpc>
                <a:spcPts val="2340"/>
              </a:lnSpc>
              <a:spcBef>
                <a:spcPts val="570"/>
              </a:spcBef>
              <a:buFont typeface="Trebuchet MS"/>
              <a:buChar char="▪"/>
              <a:tabLst>
                <a:tab pos="791845" algn="l"/>
              </a:tabLst>
            </a:pPr>
            <a:r>
              <a:rPr sz="2250" dirty="0">
                <a:latin typeface="Calibri"/>
                <a:cs typeface="Calibri"/>
              </a:rPr>
              <a:t>Successor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function: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assign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value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an 	</a:t>
            </a:r>
            <a:r>
              <a:rPr sz="2250" dirty="0">
                <a:latin typeface="Calibri"/>
                <a:cs typeface="Calibri"/>
              </a:rPr>
              <a:t>unassigned</a:t>
            </a:r>
            <a:r>
              <a:rPr sz="2250" spc="4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variable</a:t>
            </a:r>
            <a:endParaRPr sz="2250">
              <a:latin typeface="Calibri"/>
              <a:cs typeface="Calibri"/>
            </a:endParaRPr>
          </a:p>
          <a:p>
            <a:pPr marL="790575" marR="831850" lvl="1" indent="-270510">
              <a:lnSpc>
                <a:spcPts val="2340"/>
              </a:lnSpc>
              <a:spcBef>
                <a:spcPts val="545"/>
              </a:spcBef>
              <a:buFont typeface="Trebuchet MS"/>
              <a:buChar char="▪"/>
              <a:tabLst>
                <a:tab pos="791845" algn="l"/>
              </a:tabLst>
            </a:pPr>
            <a:r>
              <a:rPr sz="2250" dirty="0">
                <a:latin typeface="Calibri"/>
                <a:cs typeface="Calibri"/>
              </a:rPr>
              <a:t>Goal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test: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current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assignment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is 	</a:t>
            </a:r>
            <a:r>
              <a:rPr sz="2250" dirty="0">
                <a:latin typeface="Calibri"/>
                <a:cs typeface="Calibri"/>
              </a:rPr>
              <a:t>complete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and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satisfies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all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constraints</a:t>
            </a:r>
            <a:endParaRPr sz="22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65"/>
              </a:spcBef>
              <a:buFont typeface="Trebuchet MS"/>
              <a:buChar char="▪"/>
            </a:pPr>
            <a:endParaRPr sz="2250">
              <a:latin typeface="Calibri"/>
              <a:cs typeface="Calibri"/>
            </a:endParaRPr>
          </a:p>
          <a:p>
            <a:pPr marL="388620" marR="635000" indent="-325755">
              <a:lnSpc>
                <a:spcPts val="2760"/>
              </a:lnSpc>
              <a:buFont typeface="Trebuchet MS"/>
              <a:buChar char="▪"/>
              <a:tabLst>
                <a:tab pos="388620" algn="l"/>
              </a:tabLst>
            </a:pP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We’ll</a:t>
            </a:r>
            <a:r>
              <a:rPr sz="265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start</a:t>
            </a:r>
            <a:r>
              <a:rPr sz="265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265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65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333399"/>
                </a:solidFill>
                <a:latin typeface="Calibri"/>
                <a:cs typeface="Calibri"/>
              </a:rPr>
              <a:t>straightforward,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naïve</a:t>
            </a:r>
            <a:r>
              <a:rPr sz="265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approach,</a:t>
            </a:r>
            <a:r>
              <a:rPr sz="265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then</a:t>
            </a:r>
            <a:r>
              <a:rPr sz="265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333399"/>
                </a:solidFill>
                <a:latin typeface="Calibri"/>
                <a:cs typeface="Calibri"/>
              </a:rPr>
              <a:t>improve</a:t>
            </a:r>
            <a:r>
              <a:rPr sz="265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50" spc="-25" dirty="0">
                <a:solidFill>
                  <a:srgbClr val="333399"/>
                </a:solidFill>
                <a:latin typeface="Calibri"/>
                <a:cs typeface="Calibri"/>
              </a:rPr>
              <a:t>it</a:t>
            </a:r>
            <a:endParaRPr sz="26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4834" y="1811256"/>
            <a:ext cx="5220202" cy="39032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052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Search</a:t>
            </a:r>
            <a:r>
              <a:rPr sz="4400" spc="-165" dirty="0"/>
              <a:t> </a:t>
            </a:r>
            <a:r>
              <a:rPr sz="4400" spc="-10" dirty="0"/>
              <a:t>Methods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39417" y="1338837"/>
            <a:ext cx="33470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Trebuchet MS"/>
              <a:buChar char="▪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would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BFS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do?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417" y="3302662"/>
            <a:ext cx="33724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Trebuchet MS"/>
              <a:buChar char="▪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would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DFS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do?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7709" y="1447799"/>
            <a:ext cx="4847492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052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Search</a:t>
            </a:r>
            <a:r>
              <a:rPr sz="4400" spc="-165" dirty="0"/>
              <a:t> </a:t>
            </a:r>
            <a:r>
              <a:rPr sz="4400" spc="-10" dirty="0"/>
              <a:t>Methods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39417" y="1338837"/>
            <a:ext cx="33470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Trebuchet MS"/>
              <a:buChar char="▪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would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BFS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do?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417" y="3302662"/>
            <a:ext cx="33724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Trebuchet MS"/>
              <a:buChar char="▪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would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DFS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Calibri"/>
                <a:cs typeface="Calibri"/>
              </a:rPr>
              <a:t>do?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417" y="5266487"/>
            <a:ext cx="61766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Trebuchet MS"/>
              <a:buChar char="▪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What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does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naïve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have?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7709" y="1447799"/>
            <a:ext cx="4847492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46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Backtracking</a:t>
            </a:r>
            <a:r>
              <a:rPr sz="4400" spc="-170" dirty="0"/>
              <a:t> </a:t>
            </a:r>
            <a:r>
              <a:rPr sz="4400" spc="-10" dirty="0"/>
              <a:t>Search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8602" y="1879552"/>
            <a:ext cx="6959598" cy="40624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46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Backtracking</a:t>
            </a:r>
            <a:r>
              <a:rPr sz="4400" spc="-170" dirty="0"/>
              <a:t> </a:t>
            </a:r>
            <a:r>
              <a:rPr sz="4400" spc="-10" dirty="0"/>
              <a:t>Search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90217" y="1371276"/>
            <a:ext cx="172085" cy="9569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30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2250" spc="30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948" y="1334360"/>
            <a:ext cx="826071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Backtracking</a:t>
            </a:r>
            <a:r>
              <a:rPr sz="22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2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basic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uninformed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algorithm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solving</a:t>
            </a:r>
            <a:r>
              <a:rPr sz="22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spc="-20" dirty="0">
                <a:solidFill>
                  <a:srgbClr val="333399"/>
                </a:solidFill>
                <a:latin typeface="Calibri"/>
                <a:cs typeface="Calibri"/>
              </a:rPr>
              <a:t>CSPs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948" y="1917819"/>
            <a:ext cx="34829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Idea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1:</a:t>
            </a:r>
            <a:r>
              <a:rPr sz="22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One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variable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at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2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spc="-20" dirty="0">
                <a:solidFill>
                  <a:srgbClr val="333399"/>
                </a:solidFill>
                <a:latin typeface="Calibri"/>
                <a:cs typeface="Calibri"/>
              </a:rPr>
              <a:t>time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7383" y="2310173"/>
            <a:ext cx="147955" cy="91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8826" y="2280469"/>
            <a:ext cx="6690995" cy="91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Calibri"/>
                <a:cs typeface="Calibri"/>
              </a:rPr>
              <a:t>Variable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assignments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commutative,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fix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ordering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4400"/>
              </a:lnSpc>
            </a:pPr>
            <a:r>
              <a:rPr sz="1900" dirty="0">
                <a:latin typeface="Calibri"/>
                <a:cs typeface="Calibri"/>
              </a:rPr>
              <a:t>I.e.,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[WA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green]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[NT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green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red] </a:t>
            </a:r>
            <a:r>
              <a:rPr sz="1900" dirty="0">
                <a:latin typeface="Calibri"/>
                <a:cs typeface="Calibri"/>
              </a:rPr>
              <a:t>Only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need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consider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assignments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single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variable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each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step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217" y="3444921"/>
            <a:ext cx="17208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30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5948" y="3408007"/>
            <a:ext cx="41179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Idea</a:t>
            </a:r>
            <a:r>
              <a:rPr sz="225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2:</a:t>
            </a:r>
            <a:r>
              <a:rPr sz="225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Check</a:t>
            </a:r>
            <a:r>
              <a:rPr sz="22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constraints</a:t>
            </a:r>
            <a:r>
              <a:rPr sz="225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as</a:t>
            </a:r>
            <a:r>
              <a:rPr sz="225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you</a:t>
            </a:r>
            <a:r>
              <a:rPr sz="225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spc="-25" dirty="0">
                <a:solidFill>
                  <a:srgbClr val="333399"/>
                </a:solidFill>
                <a:latin typeface="Calibri"/>
                <a:cs typeface="Calibri"/>
              </a:rPr>
              <a:t>go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7383" y="3800360"/>
            <a:ext cx="147955" cy="91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9" dirty="0">
                <a:latin typeface="Trebuchet MS"/>
                <a:cs typeface="Trebuchet MS"/>
              </a:rPr>
              <a:t>▪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8826" y="3770656"/>
            <a:ext cx="6634480" cy="919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400"/>
              </a:lnSpc>
            </a:pPr>
            <a:r>
              <a:rPr sz="1900" dirty="0">
                <a:latin typeface="Calibri"/>
                <a:cs typeface="Calibri"/>
              </a:rPr>
              <a:t>I.e.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consider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only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conflict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previous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assignments </a:t>
            </a:r>
            <a:r>
              <a:rPr sz="1900" dirty="0">
                <a:latin typeface="Calibri"/>
                <a:cs typeface="Calibri"/>
              </a:rPr>
              <a:t>Might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some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computation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check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constraints “Incremental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goal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test”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0217" y="4935109"/>
            <a:ext cx="17208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30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948" y="4878911"/>
            <a:ext cx="5786755" cy="759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209" marR="5080" indent="-17145">
              <a:lnSpc>
                <a:spcPct val="107000"/>
              </a:lnSpc>
              <a:spcBef>
                <a:spcPts val="90"/>
              </a:spcBef>
            </a:pP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Depth-first search</a:t>
            </a:r>
            <a:r>
              <a:rPr sz="22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with</a:t>
            </a:r>
            <a:r>
              <a:rPr sz="22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these</a:t>
            </a:r>
            <a:r>
              <a:rPr sz="22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two</a:t>
            </a:r>
            <a:r>
              <a:rPr sz="22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spc="-10" dirty="0">
                <a:solidFill>
                  <a:srgbClr val="333399"/>
                </a:solidFill>
                <a:latin typeface="Calibri"/>
                <a:cs typeface="Calibri"/>
              </a:rPr>
              <a:t>improvements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2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called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i="1" dirty="0">
                <a:solidFill>
                  <a:srgbClr val="333399"/>
                </a:solidFill>
                <a:latin typeface="Calibri"/>
                <a:cs typeface="Calibri"/>
              </a:rPr>
              <a:t>backtracking</a:t>
            </a:r>
            <a:r>
              <a:rPr sz="2250" i="1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i="1" dirty="0">
                <a:solidFill>
                  <a:srgbClr val="333399"/>
                </a:solidFill>
                <a:latin typeface="Calibri"/>
                <a:cs typeface="Calibri"/>
              </a:rPr>
              <a:t>search</a:t>
            </a:r>
            <a:r>
              <a:rPr sz="2250" i="1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(not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best</a:t>
            </a:r>
            <a:r>
              <a:rPr sz="22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spc="-10" dirty="0">
                <a:solidFill>
                  <a:srgbClr val="333399"/>
                </a:solidFill>
                <a:latin typeface="Calibri"/>
                <a:cs typeface="Calibri"/>
              </a:rPr>
              <a:t>name)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0217" y="5936586"/>
            <a:ext cx="17208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30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5948" y="5892602"/>
            <a:ext cx="3507104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Can</a:t>
            </a:r>
            <a:r>
              <a:rPr sz="22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solve</a:t>
            </a:r>
            <a:r>
              <a:rPr sz="22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n-queens</a:t>
            </a:r>
            <a:r>
              <a:rPr sz="22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r>
              <a:rPr sz="22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Calibri"/>
                <a:cs typeface="Calibri"/>
              </a:rPr>
              <a:t>n</a:t>
            </a:r>
            <a:r>
              <a:rPr sz="22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33399"/>
                </a:solidFill>
                <a:latin typeface="Symbol"/>
                <a:cs typeface="Symbol"/>
              </a:rPr>
              <a:t></a:t>
            </a:r>
            <a:r>
              <a:rPr sz="2250" spc="-4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250" spc="-25" dirty="0">
                <a:solidFill>
                  <a:srgbClr val="333399"/>
                </a:solidFill>
                <a:latin typeface="Calibri"/>
                <a:cs typeface="Calibri"/>
              </a:rPr>
              <a:t>25</a:t>
            </a:r>
            <a:endParaRPr sz="225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0361" y="4283264"/>
            <a:ext cx="3944842" cy="23026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4575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Backtracking</a:t>
            </a:r>
            <a:r>
              <a:rPr sz="4400" spc="-170" dirty="0"/>
              <a:t> </a:t>
            </a:r>
            <a:r>
              <a:rPr sz="4400" spc="-10" dirty="0"/>
              <a:t>Example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823321" y="1474412"/>
            <a:ext cx="9216390" cy="5161915"/>
            <a:chOff x="2823321" y="1474412"/>
            <a:chExt cx="9216390" cy="5161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1643" y="1498349"/>
              <a:ext cx="1025904" cy="84670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5581" y="1474412"/>
              <a:ext cx="3846419" cy="204881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2898" y="1474414"/>
              <a:ext cx="4534646" cy="33653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3321" y="1483377"/>
              <a:ext cx="5401048" cy="46840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67602" y="3962400"/>
              <a:ext cx="4571998" cy="26739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46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Backtracking</a:t>
            </a:r>
            <a:r>
              <a:rPr sz="4400" spc="-170" dirty="0"/>
              <a:t> </a:t>
            </a:r>
            <a:r>
              <a:rPr sz="4400" spc="-10" dirty="0"/>
              <a:t>Search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42817" y="5326240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5691" y="5287048"/>
            <a:ext cx="70078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Backtracking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=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DFS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+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variable-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ordering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+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fail-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on-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violation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2500" y="1308094"/>
            <a:ext cx="7835900" cy="38084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598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Improving</a:t>
            </a:r>
            <a:r>
              <a:rPr sz="4400" spc="-195" dirty="0"/>
              <a:t> </a:t>
            </a:r>
            <a:r>
              <a:rPr sz="4400" spc="-10" dirty="0"/>
              <a:t>Backtracking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50517" y="1588072"/>
            <a:ext cx="7512050" cy="424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8465" indent="-342265">
              <a:lnSpc>
                <a:spcPct val="100000"/>
              </a:lnSpc>
              <a:spcBef>
                <a:spcPts val="100"/>
              </a:spcBef>
              <a:buFont typeface="Trebuchet MS"/>
              <a:buChar char="▪"/>
              <a:tabLst>
                <a:tab pos="418465" algn="l"/>
              </a:tabLst>
            </a:pP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General-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purpose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ideas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give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huge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gains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28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speed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5"/>
              </a:spcBef>
              <a:buClr>
                <a:srgbClr val="333399"/>
              </a:buClr>
              <a:buFont typeface="Trebuchet MS"/>
              <a:buChar char="▪"/>
            </a:pPr>
            <a:endParaRPr sz="2800">
              <a:latin typeface="Calibri"/>
              <a:cs typeface="Calibri"/>
            </a:endParaRPr>
          </a:p>
          <a:p>
            <a:pPr marL="418465" indent="-342265">
              <a:lnSpc>
                <a:spcPct val="100000"/>
              </a:lnSpc>
              <a:buFont typeface="Trebuchet MS"/>
              <a:buChar char="▪"/>
              <a:tabLst>
                <a:tab pos="418465" algn="l"/>
              </a:tabLst>
            </a:pP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Ordering:</a:t>
            </a:r>
            <a:endParaRPr sz="2800">
              <a:latin typeface="Calibri"/>
              <a:cs typeface="Calibri"/>
            </a:endParaRPr>
          </a:p>
          <a:p>
            <a:pPr marL="817880" lvl="1" indent="-285115">
              <a:lnSpc>
                <a:spcPct val="100000"/>
              </a:lnSpc>
              <a:spcBef>
                <a:spcPts val="705"/>
              </a:spcBef>
              <a:buFont typeface="Trebuchet MS"/>
              <a:buChar char="▪"/>
              <a:tabLst>
                <a:tab pos="817880" algn="l"/>
              </a:tabLst>
            </a:pP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next?</a:t>
            </a:r>
            <a:endParaRPr sz="2400">
              <a:latin typeface="Calibri"/>
              <a:cs typeface="Calibri"/>
            </a:endParaRPr>
          </a:p>
          <a:p>
            <a:pPr marL="817880" lvl="1" indent="-285115">
              <a:lnSpc>
                <a:spcPct val="100000"/>
              </a:lnSpc>
              <a:spcBef>
                <a:spcPts val="595"/>
              </a:spcBef>
              <a:buFont typeface="Trebuchet MS"/>
              <a:buChar char="▪"/>
              <a:tabLst>
                <a:tab pos="81788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tried?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45"/>
              </a:spcBef>
              <a:buFont typeface="Trebuchet MS"/>
              <a:buChar char="▪"/>
            </a:pPr>
            <a:endParaRPr sz="2400">
              <a:latin typeface="Calibri"/>
              <a:cs typeface="Calibri"/>
            </a:endParaRPr>
          </a:p>
          <a:p>
            <a:pPr marL="418465" indent="-342265">
              <a:lnSpc>
                <a:spcPct val="100000"/>
              </a:lnSpc>
              <a:buFont typeface="Trebuchet MS"/>
              <a:buChar char="▪"/>
              <a:tabLst>
                <a:tab pos="4184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Filtering: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Can</a:t>
            </a:r>
            <a:r>
              <a:rPr sz="2800" spc="-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detect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inevitable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failure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early?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5"/>
              </a:spcBef>
              <a:buClr>
                <a:srgbClr val="333399"/>
              </a:buClr>
              <a:buFont typeface="Trebuchet MS"/>
              <a:buChar char="▪"/>
            </a:pPr>
            <a:endParaRPr sz="2800">
              <a:latin typeface="Calibri"/>
              <a:cs typeface="Calibri"/>
            </a:endParaRPr>
          </a:p>
          <a:p>
            <a:pPr marL="418465" indent="-342265">
              <a:lnSpc>
                <a:spcPct val="100000"/>
              </a:lnSpc>
              <a:buFont typeface="Trebuchet MS"/>
              <a:buChar char="▪"/>
              <a:tabLst>
                <a:tab pos="4184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Structure: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Can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exploit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problem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structure?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3542" y="2249756"/>
            <a:ext cx="3223825" cy="22950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2292" y="1172248"/>
            <a:ext cx="10172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Filtering: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Keep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track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domains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unassigned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variables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cross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off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bad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options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9417" y="1135748"/>
            <a:ext cx="179705" cy="90868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292" y="1613699"/>
            <a:ext cx="10706735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Forward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checking: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Cross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off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that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violate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when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added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existing assignment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8984" y="2844800"/>
            <a:ext cx="6529507" cy="102869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1426092" y="-12700"/>
            <a:ext cx="779145" cy="1687195"/>
            <a:chOff x="11426092" y="-12700"/>
            <a:chExt cx="779145" cy="1687195"/>
          </a:xfrm>
        </p:grpSpPr>
        <p:sp>
          <p:nvSpPr>
            <p:cNvPr id="7" name="object 7"/>
            <p:cNvSpPr/>
            <p:nvPr/>
          </p:nvSpPr>
          <p:spPr>
            <a:xfrm>
              <a:off x="11438792" y="0"/>
              <a:ext cx="753745" cy="1661795"/>
            </a:xfrm>
            <a:custGeom>
              <a:avLst/>
              <a:gdLst/>
              <a:ahLst/>
              <a:cxnLst/>
              <a:rect l="l" t="t" r="r" b="b"/>
              <a:pathLst>
                <a:path w="753745" h="1661795">
                  <a:moveTo>
                    <a:pt x="753208" y="0"/>
                  </a:moveTo>
                  <a:lnTo>
                    <a:pt x="0" y="0"/>
                  </a:lnTo>
                  <a:lnTo>
                    <a:pt x="0" y="1661746"/>
                  </a:lnTo>
                  <a:lnTo>
                    <a:pt x="753208" y="1661746"/>
                  </a:lnTo>
                  <a:lnTo>
                    <a:pt x="753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38792" y="0"/>
              <a:ext cx="753745" cy="1661795"/>
            </a:xfrm>
            <a:custGeom>
              <a:avLst/>
              <a:gdLst/>
              <a:ahLst/>
              <a:cxnLst/>
              <a:rect l="l" t="t" r="r" b="b"/>
              <a:pathLst>
                <a:path w="753745" h="1661795">
                  <a:moveTo>
                    <a:pt x="0" y="0"/>
                  </a:moveTo>
                  <a:lnTo>
                    <a:pt x="753208" y="0"/>
                  </a:lnTo>
                  <a:lnTo>
                    <a:pt x="753208" y="1661746"/>
                  </a:lnTo>
                  <a:lnTo>
                    <a:pt x="0" y="166174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114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Filtering:</a:t>
            </a:r>
            <a:r>
              <a:rPr sz="4400" spc="-210" dirty="0"/>
              <a:t> </a:t>
            </a:r>
            <a:r>
              <a:rPr sz="4400" spc="-10" dirty="0"/>
              <a:t>Forward</a:t>
            </a:r>
            <a:r>
              <a:rPr sz="4400" spc="-210" dirty="0"/>
              <a:t> </a:t>
            </a:r>
            <a:r>
              <a:rPr sz="4400" spc="-10" dirty="0"/>
              <a:t>Checking</a:t>
            </a:r>
            <a:endParaRPr sz="4400"/>
          </a:p>
        </p:txBody>
      </p:sp>
      <p:grpSp>
        <p:nvGrpSpPr>
          <p:cNvPr id="10" name="object 10"/>
          <p:cNvGrpSpPr/>
          <p:nvPr/>
        </p:nvGrpSpPr>
        <p:grpSpPr>
          <a:xfrm>
            <a:off x="2286000" y="4289858"/>
            <a:ext cx="8382000" cy="2238375"/>
            <a:chOff x="2286000" y="4289858"/>
            <a:chExt cx="8382000" cy="223837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9993" y="4289858"/>
              <a:ext cx="7097066" cy="21000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86000" y="5003799"/>
              <a:ext cx="8382000" cy="1524000"/>
            </a:xfrm>
            <a:custGeom>
              <a:avLst/>
              <a:gdLst/>
              <a:ahLst/>
              <a:cxnLst/>
              <a:rect l="l" t="t" r="r" b="b"/>
              <a:pathLst>
                <a:path w="8382000" h="1524000">
                  <a:moveTo>
                    <a:pt x="8382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1447800"/>
                  </a:lnTo>
                  <a:lnTo>
                    <a:pt x="0" y="1524000"/>
                  </a:lnTo>
                  <a:lnTo>
                    <a:pt x="8382000" y="1524000"/>
                  </a:lnTo>
                  <a:lnTo>
                    <a:pt x="8382000" y="1447800"/>
                  </a:lnTo>
                  <a:lnTo>
                    <a:pt x="8382000" y="457200"/>
                  </a:lnTo>
                  <a:lnTo>
                    <a:pt x="838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62774" y="3093699"/>
            <a:ext cx="2882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52740" y="2961468"/>
            <a:ext cx="27940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19">
              <a:lnSpc>
                <a:spcPct val="108300"/>
              </a:lnSpc>
              <a:spcBef>
                <a:spcPts val="100"/>
              </a:spcBef>
            </a:pPr>
            <a:r>
              <a:rPr sz="1500" spc="-25" dirty="0">
                <a:latin typeface="Calibri"/>
                <a:cs typeface="Calibri"/>
              </a:rPr>
              <a:t>NT 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4774" y="2899827"/>
            <a:ext cx="332740" cy="86931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500" spc="-50" dirty="0">
                <a:latin typeface="Calibri"/>
                <a:cs typeface="Calibri"/>
              </a:rPr>
              <a:t>Q</a:t>
            </a:r>
            <a:endParaRPr sz="1500">
              <a:latin typeface="Calibri"/>
              <a:cs typeface="Calibri"/>
            </a:endParaRPr>
          </a:p>
          <a:p>
            <a:pPr marL="17145">
              <a:lnSpc>
                <a:spcPts val="1410"/>
              </a:lnSpc>
              <a:spcBef>
                <a:spcPts val="740"/>
              </a:spcBef>
            </a:pPr>
            <a:r>
              <a:rPr sz="1200" spc="-25" dirty="0">
                <a:latin typeface="Calibri"/>
                <a:cs typeface="Calibri"/>
              </a:rPr>
              <a:t>NSW</a:t>
            </a:r>
            <a:endParaRPr sz="1200">
              <a:latin typeface="Calibri"/>
              <a:cs typeface="Calibri"/>
            </a:endParaRPr>
          </a:p>
          <a:p>
            <a:pPr marL="43815">
              <a:lnSpc>
                <a:spcPts val="1770"/>
              </a:lnSpc>
            </a:pPr>
            <a:r>
              <a:rPr sz="1500" spc="-50" dirty="0">
                <a:latin typeface="Calibri"/>
                <a:cs typeface="Calibri"/>
              </a:rPr>
              <a:t>V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62400" y="2641599"/>
            <a:ext cx="5809615" cy="1295400"/>
          </a:xfrm>
          <a:custGeom>
            <a:avLst/>
            <a:gdLst/>
            <a:ahLst/>
            <a:cxnLst/>
            <a:rect l="l" t="t" r="r" b="b"/>
            <a:pathLst>
              <a:path w="5809615" h="1295400">
                <a:moveTo>
                  <a:pt x="5809119" y="0"/>
                </a:moveTo>
                <a:lnTo>
                  <a:pt x="5809119" y="0"/>
                </a:lnTo>
                <a:lnTo>
                  <a:pt x="0" y="0"/>
                </a:lnTo>
                <a:lnTo>
                  <a:pt x="0" y="1295400"/>
                </a:lnTo>
                <a:lnTo>
                  <a:pt x="5809119" y="1295400"/>
                </a:lnTo>
                <a:lnTo>
                  <a:pt x="58091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Filtering:</a:t>
            </a:r>
            <a:r>
              <a:rPr sz="4400" spc="-185" dirty="0"/>
              <a:t> </a:t>
            </a:r>
            <a:r>
              <a:rPr sz="4400" spc="-20" dirty="0"/>
              <a:t>Constraint</a:t>
            </a:r>
            <a:r>
              <a:rPr sz="4400" spc="-185" dirty="0"/>
              <a:t> </a:t>
            </a:r>
            <a:r>
              <a:rPr sz="4400" spc="-10" dirty="0"/>
              <a:t>Propagation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39417" y="1368336"/>
            <a:ext cx="165735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433" y="1326893"/>
            <a:ext cx="10471150" cy="6350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540"/>
              </a:spcBef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Forward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checking</a:t>
            </a:r>
            <a:r>
              <a:rPr sz="215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propagates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information</a:t>
            </a:r>
            <a:r>
              <a:rPr sz="215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from</a:t>
            </a:r>
            <a:r>
              <a:rPr sz="215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assigned</a:t>
            </a:r>
            <a:r>
              <a:rPr sz="215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unassigned</a:t>
            </a:r>
            <a:r>
              <a:rPr sz="215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variables,</a:t>
            </a:r>
            <a:r>
              <a:rPr sz="215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but</a:t>
            </a:r>
            <a:r>
              <a:rPr sz="215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doesn't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provide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early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detection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all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failures: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417" y="4908998"/>
            <a:ext cx="165735" cy="1044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433" y="4867555"/>
            <a:ext cx="6833234" cy="104457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3235325">
              <a:lnSpc>
                <a:spcPct val="104700"/>
              </a:lnSpc>
              <a:spcBef>
                <a:spcPts val="10"/>
              </a:spcBef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NT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SA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cannot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both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blue!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Why</a:t>
            </a:r>
            <a:r>
              <a:rPr sz="21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didn’t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we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detect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this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20" dirty="0">
                <a:solidFill>
                  <a:srgbClr val="333399"/>
                </a:solidFill>
                <a:latin typeface="Calibri"/>
                <a:cs typeface="Calibri"/>
              </a:rPr>
              <a:t>yet?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i="1" dirty="0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r>
              <a:rPr sz="2150" i="1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i="1" dirty="0">
                <a:solidFill>
                  <a:srgbClr val="333399"/>
                </a:solidFill>
                <a:latin typeface="Calibri"/>
                <a:cs typeface="Calibri"/>
              </a:rPr>
              <a:t>propagation:</a:t>
            </a:r>
            <a:r>
              <a:rPr sz="2150" i="1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reason</a:t>
            </a:r>
            <a:r>
              <a:rPr sz="2150" spc="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from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15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6877" y="2602548"/>
            <a:ext cx="6365628" cy="14691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2679590"/>
            <a:ext cx="1714774" cy="141016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45881" y="3128202"/>
            <a:ext cx="2882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1820" y="2788805"/>
            <a:ext cx="297180" cy="70421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500" spc="-25" dirty="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875"/>
              </a:spcBef>
            </a:pPr>
            <a:r>
              <a:rPr sz="1500" spc="-25" dirty="0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9021" y="2975802"/>
            <a:ext cx="1536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Calibri"/>
                <a:cs typeface="Calibri"/>
              </a:rPr>
              <a:t>Q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5221" y="3371976"/>
            <a:ext cx="328295" cy="5035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200" spc="-25" dirty="0">
                <a:latin typeface="Calibri"/>
                <a:cs typeface="Calibri"/>
              </a:rPr>
              <a:t>NSW</a:t>
            </a:r>
            <a:endParaRPr sz="120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  <a:spcBef>
                <a:spcPts val="290"/>
              </a:spcBef>
            </a:pPr>
            <a:r>
              <a:rPr sz="1500" spc="-50" dirty="0">
                <a:latin typeface="Calibri"/>
                <a:cs typeface="Calibri"/>
              </a:rPr>
              <a:t>V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545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Consistency</a:t>
            </a:r>
            <a:r>
              <a:rPr sz="4400" spc="-100" dirty="0"/>
              <a:t> </a:t>
            </a:r>
            <a:r>
              <a:rPr sz="4400" dirty="0"/>
              <a:t>of</a:t>
            </a:r>
            <a:r>
              <a:rPr sz="4400" spc="-95" dirty="0"/>
              <a:t> </a:t>
            </a:r>
            <a:r>
              <a:rPr sz="4400" dirty="0"/>
              <a:t>A</a:t>
            </a:r>
            <a:r>
              <a:rPr sz="4400" spc="-95" dirty="0"/>
              <a:t> </a:t>
            </a:r>
            <a:r>
              <a:rPr sz="4400" dirty="0"/>
              <a:t>Single</a:t>
            </a:r>
            <a:r>
              <a:rPr sz="4400" spc="-100" dirty="0"/>
              <a:t> </a:t>
            </a:r>
            <a:r>
              <a:rPr sz="4400" spc="-25" dirty="0"/>
              <a:t>Arc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39417" y="1658792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292" y="1612160"/>
            <a:ext cx="10341610" cy="7112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2520"/>
              </a:lnSpc>
              <a:spcBef>
                <a:spcPts val="480"/>
              </a:spcBef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arc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X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Symbol"/>
                <a:cs typeface="Symbol"/>
              </a:rPr>
              <a:t></a:t>
            </a:r>
            <a:r>
              <a:rPr sz="2400" spc="-35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Y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consistent</a:t>
            </a:r>
            <a:r>
              <a:rPr sz="24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iff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for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every</a:t>
            </a:r>
            <a:r>
              <a:rPr sz="2400" i="1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x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tail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there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some</a:t>
            </a:r>
            <a:r>
              <a:rPr sz="2400" i="1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y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head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which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could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assigned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without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violating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417" y="5298093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2292" y="5258902"/>
            <a:ext cx="10054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Forward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checking: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Enforcing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consistency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arcs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pointing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new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Calibri"/>
                <a:cs typeface="Calibri"/>
              </a:rPr>
              <a:t>assignment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2910766"/>
            <a:ext cx="1663889" cy="139461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016189" y="3147069"/>
            <a:ext cx="6347460" cy="1040765"/>
            <a:chOff x="4016189" y="3147069"/>
            <a:chExt cx="6347460" cy="1040765"/>
          </a:xfrm>
        </p:grpSpPr>
        <p:sp>
          <p:nvSpPr>
            <p:cNvPr id="9" name="object 9"/>
            <p:cNvSpPr/>
            <p:nvPr/>
          </p:nvSpPr>
          <p:spPr>
            <a:xfrm>
              <a:off x="4569226" y="3863674"/>
              <a:ext cx="2172335" cy="304800"/>
            </a:xfrm>
            <a:custGeom>
              <a:avLst/>
              <a:gdLst/>
              <a:ahLst/>
              <a:cxnLst/>
              <a:rect l="l" t="t" r="r" b="b"/>
              <a:pathLst>
                <a:path w="2172334" h="304800">
                  <a:moveTo>
                    <a:pt x="2172231" y="0"/>
                  </a:moveTo>
                  <a:lnTo>
                    <a:pt x="2121942" y="18278"/>
                  </a:lnTo>
                  <a:lnTo>
                    <a:pt x="2071667" y="36497"/>
                  </a:lnTo>
                  <a:lnTo>
                    <a:pt x="2021421" y="54600"/>
                  </a:lnTo>
                  <a:lnTo>
                    <a:pt x="1971219" y="72527"/>
                  </a:lnTo>
                  <a:lnTo>
                    <a:pt x="1921076" y="90220"/>
                  </a:lnTo>
                  <a:lnTo>
                    <a:pt x="1871006" y="107621"/>
                  </a:lnTo>
                  <a:lnTo>
                    <a:pt x="1821024" y="124670"/>
                  </a:lnTo>
                  <a:lnTo>
                    <a:pt x="1771144" y="141310"/>
                  </a:lnTo>
                  <a:lnTo>
                    <a:pt x="1721381" y="157481"/>
                  </a:lnTo>
                  <a:lnTo>
                    <a:pt x="1671750" y="173126"/>
                  </a:lnTo>
                  <a:lnTo>
                    <a:pt x="1622265" y="188185"/>
                  </a:lnTo>
                  <a:lnTo>
                    <a:pt x="1572941" y="202601"/>
                  </a:lnTo>
                  <a:lnTo>
                    <a:pt x="1523792" y="216315"/>
                  </a:lnTo>
                  <a:lnTo>
                    <a:pt x="1474834" y="229268"/>
                  </a:lnTo>
                  <a:lnTo>
                    <a:pt x="1426081" y="241401"/>
                  </a:lnTo>
                  <a:lnTo>
                    <a:pt x="1377547" y="252657"/>
                  </a:lnTo>
                  <a:lnTo>
                    <a:pt x="1329247" y="262976"/>
                  </a:lnTo>
                  <a:lnTo>
                    <a:pt x="1281196" y="272301"/>
                  </a:lnTo>
                  <a:lnTo>
                    <a:pt x="1233408" y="280572"/>
                  </a:lnTo>
                  <a:lnTo>
                    <a:pt x="1185898" y="287731"/>
                  </a:lnTo>
                  <a:lnTo>
                    <a:pt x="1138681" y="293719"/>
                  </a:lnTo>
                  <a:lnTo>
                    <a:pt x="1091771" y="298479"/>
                  </a:lnTo>
                  <a:lnTo>
                    <a:pt x="1045183" y="301951"/>
                  </a:lnTo>
                  <a:lnTo>
                    <a:pt x="998932" y="304078"/>
                  </a:lnTo>
                  <a:lnTo>
                    <a:pt x="953031" y="304799"/>
                  </a:lnTo>
                  <a:lnTo>
                    <a:pt x="900780" y="303850"/>
                  </a:lnTo>
                  <a:lnTo>
                    <a:pt x="848989" y="301061"/>
                  </a:lnTo>
                  <a:lnTo>
                    <a:pt x="797636" y="296521"/>
                  </a:lnTo>
                  <a:lnTo>
                    <a:pt x="746698" y="290318"/>
                  </a:lnTo>
                  <a:lnTo>
                    <a:pt x="696154" y="282541"/>
                  </a:lnTo>
                  <a:lnTo>
                    <a:pt x="645982" y="273278"/>
                  </a:lnTo>
                  <a:lnTo>
                    <a:pt x="596158" y="262619"/>
                  </a:lnTo>
                  <a:lnTo>
                    <a:pt x="546662" y="250651"/>
                  </a:lnTo>
                  <a:lnTo>
                    <a:pt x="497471" y="237463"/>
                  </a:lnTo>
                  <a:lnTo>
                    <a:pt x="448562" y="223144"/>
                  </a:lnTo>
                  <a:lnTo>
                    <a:pt x="399914" y="207782"/>
                  </a:lnTo>
                  <a:lnTo>
                    <a:pt x="351505" y="191466"/>
                  </a:lnTo>
                  <a:lnTo>
                    <a:pt x="303312" y="174284"/>
                  </a:lnTo>
                  <a:lnTo>
                    <a:pt x="255314" y="156325"/>
                  </a:lnTo>
                  <a:lnTo>
                    <a:pt x="207487" y="137678"/>
                  </a:lnTo>
                  <a:lnTo>
                    <a:pt x="159811" y="118430"/>
                  </a:lnTo>
                  <a:lnTo>
                    <a:pt x="112262" y="98671"/>
                  </a:lnTo>
                  <a:lnTo>
                    <a:pt x="64819" y="78489"/>
                  </a:lnTo>
                  <a:lnTo>
                    <a:pt x="17460" y="57973"/>
                  </a:lnTo>
                  <a:lnTo>
                    <a:pt x="0" y="5025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55458" y="3813401"/>
              <a:ext cx="153670" cy="198120"/>
            </a:xfrm>
            <a:custGeom>
              <a:avLst/>
              <a:gdLst/>
              <a:ahLst/>
              <a:cxnLst/>
              <a:rect l="l" t="t" r="r" b="b"/>
              <a:pathLst>
                <a:path w="153670" h="198120">
                  <a:moveTo>
                    <a:pt x="153553" y="0"/>
                  </a:moveTo>
                  <a:lnTo>
                    <a:pt x="0" y="50272"/>
                  </a:lnTo>
                  <a:lnTo>
                    <a:pt x="66240" y="197642"/>
                  </a:lnTo>
                  <a:lnTo>
                    <a:pt x="1535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0630" y="3863674"/>
              <a:ext cx="1104265" cy="152400"/>
            </a:xfrm>
            <a:custGeom>
              <a:avLst/>
              <a:gdLst/>
              <a:ahLst/>
              <a:cxnLst/>
              <a:rect l="l" t="t" r="r" b="b"/>
              <a:pathLst>
                <a:path w="1104264" h="152400">
                  <a:moveTo>
                    <a:pt x="1104027" y="0"/>
                  </a:moveTo>
                  <a:lnTo>
                    <a:pt x="1052455" y="17549"/>
                  </a:lnTo>
                  <a:lnTo>
                    <a:pt x="1000938" y="34891"/>
                  </a:lnTo>
                  <a:lnTo>
                    <a:pt x="949532" y="51817"/>
                  </a:lnTo>
                  <a:lnTo>
                    <a:pt x="898293" y="68118"/>
                  </a:lnTo>
                  <a:lnTo>
                    <a:pt x="847276" y="83587"/>
                  </a:lnTo>
                  <a:lnTo>
                    <a:pt x="796536" y="98016"/>
                  </a:lnTo>
                  <a:lnTo>
                    <a:pt x="746129" y="111195"/>
                  </a:lnTo>
                  <a:lnTo>
                    <a:pt x="696110" y="122918"/>
                  </a:lnTo>
                  <a:lnTo>
                    <a:pt x="646536" y="132977"/>
                  </a:lnTo>
                  <a:lnTo>
                    <a:pt x="597461" y="141162"/>
                  </a:lnTo>
                  <a:lnTo>
                    <a:pt x="548941" y="147266"/>
                  </a:lnTo>
                  <a:lnTo>
                    <a:pt x="501031" y="151082"/>
                  </a:lnTo>
                  <a:lnTo>
                    <a:pt x="453787" y="152399"/>
                  </a:lnTo>
                  <a:lnTo>
                    <a:pt x="402840" y="150822"/>
                  </a:lnTo>
                  <a:lnTo>
                    <a:pt x="352686" y="146271"/>
                  </a:lnTo>
                  <a:lnTo>
                    <a:pt x="303251" y="139022"/>
                  </a:lnTo>
                  <a:lnTo>
                    <a:pt x="254463" y="129346"/>
                  </a:lnTo>
                  <a:lnTo>
                    <a:pt x="206250" y="117519"/>
                  </a:lnTo>
                  <a:lnTo>
                    <a:pt x="158537" y="103813"/>
                  </a:lnTo>
                  <a:lnTo>
                    <a:pt x="111252" y="88501"/>
                  </a:lnTo>
                  <a:lnTo>
                    <a:pt x="64322" y="71859"/>
                  </a:lnTo>
                  <a:lnTo>
                    <a:pt x="17674" y="54158"/>
                  </a:lnTo>
                  <a:lnTo>
                    <a:pt x="0" y="4695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55458" y="3808987"/>
              <a:ext cx="152400" cy="200660"/>
            </a:xfrm>
            <a:custGeom>
              <a:avLst/>
              <a:gdLst/>
              <a:ahLst/>
              <a:cxnLst/>
              <a:rect l="l" t="t" r="r" b="b"/>
              <a:pathLst>
                <a:path w="152400" h="200660">
                  <a:moveTo>
                    <a:pt x="152036" y="0"/>
                  </a:moveTo>
                  <a:lnTo>
                    <a:pt x="0" y="54686"/>
                  </a:lnTo>
                  <a:lnTo>
                    <a:pt x="70468" y="200082"/>
                  </a:lnTo>
                  <a:lnTo>
                    <a:pt x="1520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6189" y="3147069"/>
              <a:ext cx="6347011" cy="6241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0659" y="3482673"/>
              <a:ext cx="838200" cy="2285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437512" y="4396564"/>
            <a:ext cx="23285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Delete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tail!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98281" y="3343100"/>
            <a:ext cx="2882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14221" y="3012528"/>
            <a:ext cx="297180" cy="6870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spc="-25" dirty="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805"/>
              </a:spcBef>
            </a:pPr>
            <a:r>
              <a:rPr sz="1500" spc="-25" dirty="0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71421" y="3190700"/>
            <a:ext cx="1536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Calibri"/>
                <a:cs typeface="Calibri"/>
              </a:rPr>
              <a:t>Q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16991" y="3563824"/>
            <a:ext cx="332105" cy="53530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45"/>
              </a:spcBef>
            </a:pPr>
            <a:r>
              <a:rPr sz="1200" spc="-25" dirty="0">
                <a:latin typeface="Calibri"/>
                <a:cs typeface="Calibri"/>
              </a:rPr>
              <a:t>NSW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500" spc="-50" dirty="0">
                <a:latin typeface="Calibri"/>
                <a:cs typeface="Calibri"/>
              </a:rPr>
              <a:t>V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72746" y="3482673"/>
            <a:ext cx="247015" cy="198120"/>
          </a:xfrm>
          <a:custGeom>
            <a:avLst/>
            <a:gdLst/>
            <a:ahLst/>
            <a:cxnLst/>
            <a:rect l="l" t="t" r="r" b="b"/>
            <a:pathLst>
              <a:path w="247014" h="198120">
                <a:moveTo>
                  <a:pt x="246687" y="0"/>
                </a:moveTo>
                <a:lnTo>
                  <a:pt x="0" y="0"/>
                </a:lnTo>
                <a:lnTo>
                  <a:pt x="0" y="198120"/>
                </a:lnTo>
                <a:lnTo>
                  <a:pt x="246687" y="198120"/>
                </a:lnTo>
                <a:lnTo>
                  <a:pt x="2466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390079"/>
            <a:ext cx="1678021" cy="13955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474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Arc</a:t>
            </a:r>
            <a:r>
              <a:rPr sz="4400" spc="-114" dirty="0"/>
              <a:t> </a:t>
            </a:r>
            <a:r>
              <a:rPr sz="4400" spc="-10" dirty="0"/>
              <a:t>Consistency</a:t>
            </a:r>
            <a:r>
              <a:rPr sz="4400" spc="-114" dirty="0"/>
              <a:t> </a:t>
            </a:r>
            <a:r>
              <a:rPr sz="4400" dirty="0"/>
              <a:t>of</a:t>
            </a:r>
            <a:r>
              <a:rPr sz="4400" spc="-114" dirty="0"/>
              <a:t> </a:t>
            </a:r>
            <a:r>
              <a:rPr sz="4400" dirty="0"/>
              <a:t>an</a:t>
            </a:r>
            <a:r>
              <a:rPr sz="4400" spc="-114" dirty="0"/>
              <a:t> </a:t>
            </a:r>
            <a:r>
              <a:rPr sz="4400" dirty="0"/>
              <a:t>Entire</a:t>
            </a:r>
            <a:r>
              <a:rPr sz="4400" spc="-114" dirty="0"/>
              <a:t> </a:t>
            </a:r>
            <a:r>
              <a:rPr sz="4400" spc="-25" dirty="0"/>
              <a:t>CSP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39417" y="1292136"/>
            <a:ext cx="165735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1433" y="1250693"/>
            <a:ext cx="7197725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15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simple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form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15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propagation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makes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sure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sz="215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arcs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consistent: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417" y="4556394"/>
            <a:ext cx="165735" cy="1387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285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1433" y="4514951"/>
            <a:ext cx="7477125" cy="138747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4700"/>
              </a:lnSpc>
              <a:spcBef>
                <a:spcPts val="10"/>
              </a:spcBef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Important: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If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X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loses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value,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neighbors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X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need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rechecked!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Arc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consistency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detects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failure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earlier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than</a:t>
            </a:r>
            <a:r>
              <a:rPr sz="2150" spc="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forward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checking</a:t>
            </a:r>
            <a:endParaRPr sz="2150">
              <a:latin typeface="Calibri"/>
              <a:cs typeface="Calibri"/>
            </a:endParaRPr>
          </a:p>
          <a:p>
            <a:pPr marL="12700" marR="1340485">
              <a:lnSpc>
                <a:spcPct val="104700"/>
              </a:lnSpc>
            </a:pP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Can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run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as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preprocessor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or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after</a:t>
            </a:r>
            <a:r>
              <a:rPr sz="215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each</a:t>
            </a:r>
            <a:r>
              <a:rPr sz="215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assignment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What’s</a:t>
            </a:r>
            <a:r>
              <a:rPr sz="215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downside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enforcing</a:t>
            </a:r>
            <a:r>
              <a:rPr sz="215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333399"/>
                </a:solidFill>
                <a:latin typeface="Calibri"/>
                <a:cs typeface="Calibri"/>
              </a:rPr>
              <a:t>arc</a:t>
            </a:r>
            <a:r>
              <a:rPr sz="2150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333399"/>
                </a:solidFill>
                <a:latin typeface="Calibri"/>
                <a:cs typeface="Calibri"/>
              </a:rPr>
              <a:t>consistency?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14463" y="2675159"/>
            <a:ext cx="7077709" cy="695325"/>
            <a:chOff x="3514463" y="2675159"/>
            <a:chExt cx="7077709" cy="6953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14463" y="2675159"/>
              <a:ext cx="7077336" cy="69529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848105" y="3029089"/>
              <a:ext cx="764540" cy="243840"/>
            </a:xfrm>
            <a:custGeom>
              <a:avLst/>
              <a:gdLst/>
              <a:ahLst/>
              <a:cxnLst/>
              <a:rect l="l" t="t" r="r" b="b"/>
              <a:pathLst>
                <a:path w="764540" h="243839">
                  <a:moveTo>
                    <a:pt x="277952" y="0"/>
                  </a:moveTo>
                  <a:lnTo>
                    <a:pt x="0" y="0"/>
                  </a:lnTo>
                  <a:lnTo>
                    <a:pt x="0" y="243840"/>
                  </a:lnTo>
                  <a:lnTo>
                    <a:pt x="277952" y="243840"/>
                  </a:lnTo>
                  <a:lnTo>
                    <a:pt x="277952" y="0"/>
                  </a:lnTo>
                  <a:close/>
                </a:path>
                <a:path w="764540" h="243839">
                  <a:moveTo>
                    <a:pt x="764400" y="0"/>
                  </a:moveTo>
                  <a:lnTo>
                    <a:pt x="486448" y="0"/>
                  </a:lnTo>
                  <a:lnTo>
                    <a:pt x="486448" y="243840"/>
                  </a:lnTo>
                  <a:lnTo>
                    <a:pt x="764400" y="243840"/>
                  </a:lnTo>
                  <a:lnTo>
                    <a:pt x="76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737289" y="3422146"/>
            <a:ext cx="2324100" cy="384810"/>
            <a:chOff x="7737289" y="3422146"/>
            <a:chExt cx="2324100" cy="384810"/>
          </a:xfrm>
        </p:grpSpPr>
        <p:sp>
          <p:nvSpPr>
            <p:cNvPr id="12" name="object 12"/>
            <p:cNvSpPr/>
            <p:nvPr/>
          </p:nvSpPr>
          <p:spPr>
            <a:xfrm>
              <a:off x="7870107" y="3482788"/>
              <a:ext cx="2172335" cy="304800"/>
            </a:xfrm>
            <a:custGeom>
              <a:avLst/>
              <a:gdLst/>
              <a:ahLst/>
              <a:cxnLst/>
              <a:rect l="l" t="t" r="r" b="b"/>
              <a:pathLst>
                <a:path w="2172334" h="304800">
                  <a:moveTo>
                    <a:pt x="2172231" y="0"/>
                  </a:moveTo>
                  <a:lnTo>
                    <a:pt x="2121942" y="18278"/>
                  </a:lnTo>
                  <a:lnTo>
                    <a:pt x="2071667" y="36497"/>
                  </a:lnTo>
                  <a:lnTo>
                    <a:pt x="2021421" y="54600"/>
                  </a:lnTo>
                  <a:lnTo>
                    <a:pt x="1971219" y="72527"/>
                  </a:lnTo>
                  <a:lnTo>
                    <a:pt x="1921076" y="90220"/>
                  </a:lnTo>
                  <a:lnTo>
                    <a:pt x="1871006" y="107621"/>
                  </a:lnTo>
                  <a:lnTo>
                    <a:pt x="1821024" y="124670"/>
                  </a:lnTo>
                  <a:lnTo>
                    <a:pt x="1771144" y="141310"/>
                  </a:lnTo>
                  <a:lnTo>
                    <a:pt x="1721381" y="157481"/>
                  </a:lnTo>
                  <a:lnTo>
                    <a:pt x="1671750" y="173126"/>
                  </a:lnTo>
                  <a:lnTo>
                    <a:pt x="1622265" y="188185"/>
                  </a:lnTo>
                  <a:lnTo>
                    <a:pt x="1572941" y="202601"/>
                  </a:lnTo>
                  <a:lnTo>
                    <a:pt x="1523792" y="216315"/>
                  </a:lnTo>
                  <a:lnTo>
                    <a:pt x="1474834" y="229268"/>
                  </a:lnTo>
                  <a:lnTo>
                    <a:pt x="1426081" y="241401"/>
                  </a:lnTo>
                  <a:lnTo>
                    <a:pt x="1377547" y="252657"/>
                  </a:lnTo>
                  <a:lnTo>
                    <a:pt x="1329247" y="262976"/>
                  </a:lnTo>
                  <a:lnTo>
                    <a:pt x="1281196" y="272301"/>
                  </a:lnTo>
                  <a:lnTo>
                    <a:pt x="1233408" y="280572"/>
                  </a:lnTo>
                  <a:lnTo>
                    <a:pt x="1185898" y="287731"/>
                  </a:lnTo>
                  <a:lnTo>
                    <a:pt x="1138681" y="293719"/>
                  </a:lnTo>
                  <a:lnTo>
                    <a:pt x="1091771" y="298479"/>
                  </a:lnTo>
                  <a:lnTo>
                    <a:pt x="1045183" y="301951"/>
                  </a:lnTo>
                  <a:lnTo>
                    <a:pt x="998932" y="304078"/>
                  </a:lnTo>
                  <a:lnTo>
                    <a:pt x="953031" y="304800"/>
                  </a:lnTo>
                  <a:lnTo>
                    <a:pt x="900780" y="303850"/>
                  </a:lnTo>
                  <a:lnTo>
                    <a:pt x="848989" y="301061"/>
                  </a:lnTo>
                  <a:lnTo>
                    <a:pt x="797636" y="296521"/>
                  </a:lnTo>
                  <a:lnTo>
                    <a:pt x="746698" y="290318"/>
                  </a:lnTo>
                  <a:lnTo>
                    <a:pt x="696154" y="282541"/>
                  </a:lnTo>
                  <a:lnTo>
                    <a:pt x="645982" y="273278"/>
                  </a:lnTo>
                  <a:lnTo>
                    <a:pt x="596158" y="262619"/>
                  </a:lnTo>
                  <a:lnTo>
                    <a:pt x="546662" y="250651"/>
                  </a:lnTo>
                  <a:lnTo>
                    <a:pt x="497471" y="237463"/>
                  </a:lnTo>
                  <a:lnTo>
                    <a:pt x="448562" y="223144"/>
                  </a:lnTo>
                  <a:lnTo>
                    <a:pt x="399914" y="207782"/>
                  </a:lnTo>
                  <a:lnTo>
                    <a:pt x="351505" y="191466"/>
                  </a:lnTo>
                  <a:lnTo>
                    <a:pt x="303312" y="174284"/>
                  </a:lnTo>
                  <a:lnTo>
                    <a:pt x="255314" y="156325"/>
                  </a:lnTo>
                  <a:lnTo>
                    <a:pt x="207487" y="137678"/>
                  </a:lnTo>
                  <a:lnTo>
                    <a:pt x="159811" y="118430"/>
                  </a:lnTo>
                  <a:lnTo>
                    <a:pt x="112262" y="98671"/>
                  </a:lnTo>
                  <a:lnTo>
                    <a:pt x="64819" y="78489"/>
                  </a:lnTo>
                  <a:lnTo>
                    <a:pt x="17460" y="57973"/>
                  </a:lnTo>
                  <a:lnTo>
                    <a:pt x="0" y="5025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56339" y="3432515"/>
              <a:ext cx="153670" cy="198120"/>
            </a:xfrm>
            <a:custGeom>
              <a:avLst/>
              <a:gdLst/>
              <a:ahLst/>
              <a:cxnLst/>
              <a:rect l="l" t="t" r="r" b="b"/>
              <a:pathLst>
                <a:path w="153670" h="198120">
                  <a:moveTo>
                    <a:pt x="153551" y="0"/>
                  </a:moveTo>
                  <a:lnTo>
                    <a:pt x="0" y="50272"/>
                  </a:lnTo>
                  <a:lnTo>
                    <a:pt x="66239" y="197642"/>
                  </a:lnTo>
                  <a:lnTo>
                    <a:pt x="153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56339" y="3482788"/>
              <a:ext cx="2169160" cy="304800"/>
            </a:xfrm>
            <a:custGeom>
              <a:avLst/>
              <a:gdLst/>
              <a:ahLst/>
              <a:cxnLst/>
              <a:rect l="l" t="t" r="r" b="b"/>
              <a:pathLst>
                <a:path w="2169159" h="304800">
                  <a:moveTo>
                    <a:pt x="2169064" y="42373"/>
                  </a:moveTo>
                  <a:lnTo>
                    <a:pt x="2100210" y="67111"/>
                  </a:lnTo>
                  <a:lnTo>
                    <a:pt x="2049320" y="85137"/>
                  </a:lnTo>
                  <a:lnTo>
                    <a:pt x="1998503" y="102879"/>
                  </a:lnTo>
                  <a:lnTo>
                    <a:pt x="1947771" y="120276"/>
                  </a:lnTo>
                  <a:lnTo>
                    <a:pt x="1897142" y="137267"/>
                  </a:lnTo>
                  <a:lnTo>
                    <a:pt x="1846630" y="153791"/>
                  </a:lnTo>
                  <a:lnTo>
                    <a:pt x="1796249" y="169786"/>
                  </a:lnTo>
                  <a:lnTo>
                    <a:pt x="1746017" y="185193"/>
                  </a:lnTo>
                  <a:lnTo>
                    <a:pt x="1695947" y="199949"/>
                  </a:lnTo>
                  <a:lnTo>
                    <a:pt x="1646056" y="213993"/>
                  </a:lnTo>
                  <a:lnTo>
                    <a:pt x="1596357" y="227265"/>
                  </a:lnTo>
                  <a:lnTo>
                    <a:pt x="1546868" y="239703"/>
                  </a:lnTo>
                  <a:lnTo>
                    <a:pt x="1497602" y="251247"/>
                  </a:lnTo>
                  <a:lnTo>
                    <a:pt x="1448575" y="261835"/>
                  </a:lnTo>
                  <a:lnTo>
                    <a:pt x="1399803" y="271406"/>
                  </a:lnTo>
                  <a:lnTo>
                    <a:pt x="1351300" y="279899"/>
                  </a:lnTo>
                  <a:lnTo>
                    <a:pt x="1303082" y="287253"/>
                  </a:lnTo>
                  <a:lnTo>
                    <a:pt x="1255164" y="293407"/>
                  </a:lnTo>
                  <a:lnTo>
                    <a:pt x="1207562" y="298299"/>
                  </a:lnTo>
                  <a:lnTo>
                    <a:pt x="1160290" y="301870"/>
                  </a:lnTo>
                  <a:lnTo>
                    <a:pt x="1113364" y="304057"/>
                  </a:lnTo>
                  <a:lnTo>
                    <a:pt x="1066800" y="304800"/>
                  </a:lnTo>
                  <a:lnTo>
                    <a:pt x="1015078" y="303869"/>
                  </a:lnTo>
                  <a:lnTo>
                    <a:pt x="963806" y="301135"/>
                  </a:lnTo>
                  <a:lnTo>
                    <a:pt x="912965" y="296684"/>
                  </a:lnTo>
                  <a:lnTo>
                    <a:pt x="862531" y="290601"/>
                  </a:lnTo>
                  <a:lnTo>
                    <a:pt x="812483" y="282973"/>
                  </a:lnTo>
                  <a:lnTo>
                    <a:pt x="762801" y="273884"/>
                  </a:lnTo>
                  <a:lnTo>
                    <a:pt x="713462" y="263422"/>
                  </a:lnTo>
                  <a:lnTo>
                    <a:pt x="664445" y="251671"/>
                  </a:lnTo>
                  <a:lnTo>
                    <a:pt x="615729" y="238718"/>
                  </a:lnTo>
                  <a:lnTo>
                    <a:pt x="567292" y="224649"/>
                  </a:lnTo>
                  <a:lnTo>
                    <a:pt x="519112" y="209549"/>
                  </a:lnTo>
                  <a:lnTo>
                    <a:pt x="471169" y="193505"/>
                  </a:lnTo>
                  <a:lnTo>
                    <a:pt x="423440" y="176602"/>
                  </a:lnTo>
                  <a:lnTo>
                    <a:pt x="375904" y="158926"/>
                  </a:lnTo>
                  <a:lnTo>
                    <a:pt x="328540" y="140563"/>
                  </a:lnTo>
                  <a:lnTo>
                    <a:pt x="281327" y="121599"/>
                  </a:lnTo>
                  <a:lnTo>
                    <a:pt x="234242" y="102120"/>
                  </a:lnTo>
                  <a:lnTo>
                    <a:pt x="187265" y="82211"/>
                  </a:lnTo>
                  <a:lnTo>
                    <a:pt x="140373" y="61959"/>
                  </a:lnTo>
                  <a:lnTo>
                    <a:pt x="93546" y="41449"/>
                  </a:lnTo>
                  <a:lnTo>
                    <a:pt x="46762" y="20767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892578" y="3422146"/>
              <a:ext cx="149860" cy="203200"/>
            </a:xfrm>
            <a:custGeom>
              <a:avLst/>
              <a:gdLst/>
              <a:ahLst/>
              <a:cxnLst/>
              <a:rect l="l" t="t" r="r" b="b"/>
              <a:pathLst>
                <a:path w="149859" h="203200">
                  <a:moveTo>
                    <a:pt x="0" y="0"/>
                  </a:moveTo>
                  <a:lnTo>
                    <a:pt x="73611" y="203144"/>
                  </a:lnTo>
                  <a:lnTo>
                    <a:pt x="149760" y="60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71511" y="3482788"/>
              <a:ext cx="1104265" cy="152400"/>
            </a:xfrm>
            <a:custGeom>
              <a:avLst/>
              <a:gdLst/>
              <a:ahLst/>
              <a:cxnLst/>
              <a:rect l="l" t="t" r="r" b="b"/>
              <a:pathLst>
                <a:path w="1104265" h="152400">
                  <a:moveTo>
                    <a:pt x="1104027" y="0"/>
                  </a:moveTo>
                  <a:lnTo>
                    <a:pt x="1052455" y="17549"/>
                  </a:lnTo>
                  <a:lnTo>
                    <a:pt x="1000938" y="34891"/>
                  </a:lnTo>
                  <a:lnTo>
                    <a:pt x="949532" y="51817"/>
                  </a:lnTo>
                  <a:lnTo>
                    <a:pt x="898293" y="68118"/>
                  </a:lnTo>
                  <a:lnTo>
                    <a:pt x="847276" y="83587"/>
                  </a:lnTo>
                  <a:lnTo>
                    <a:pt x="796536" y="98016"/>
                  </a:lnTo>
                  <a:lnTo>
                    <a:pt x="746129" y="111195"/>
                  </a:lnTo>
                  <a:lnTo>
                    <a:pt x="696110" y="122918"/>
                  </a:lnTo>
                  <a:lnTo>
                    <a:pt x="646536" y="132977"/>
                  </a:lnTo>
                  <a:lnTo>
                    <a:pt x="597461" y="141162"/>
                  </a:lnTo>
                  <a:lnTo>
                    <a:pt x="548941" y="147266"/>
                  </a:lnTo>
                  <a:lnTo>
                    <a:pt x="501031" y="151082"/>
                  </a:lnTo>
                  <a:lnTo>
                    <a:pt x="453787" y="152400"/>
                  </a:lnTo>
                  <a:lnTo>
                    <a:pt x="402840" y="150822"/>
                  </a:lnTo>
                  <a:lnTo>
                    <a:pt x="352686" y="146271"/>
                  </a:lnTo>
                  <a:lnTo>
                    <a:pt x="303251" y="139022"/>
                  </a:lnTo>
                  <a:lnTo>
                    <a:pt x="254463" y="129346"/>
                  </a:lnTo>
                  <a:lnTo>
                    <a:pt x="206250" y="117519"/>
                  </a:lnTo>
                  <a:lnTo>
                    <a:pt x="158537" y="103813"/>
                  </a:lnTo>
                  <a:lnTo>
                    <a:pt x="111252" y="88501"/>
                  </a:lnTo>
                  <a:lnTo>
                    <a:pt x="64322" y="71859"/>
                  </a:lnTo>
                  <a:lnTo>
                    <a:pt x="17674" y="54158"/>
                  </a:lnTo>
                  <a:lnTo>
                    <a:pt x="0" y="4695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56339" y="3428101"/>
              <a:ext cx="152400" cy="200660"/>
            </a:xfrm>
            <a:custGeom>
              <a:avLst/>
              <a:gdLst/>
              <a:ahLst/>
              <a:cxnLst/>
              <a:rect l="l" t="t" r="r" b="b"/>
              <a:pathLst>
                <a:path w="152400" h="200660">
                  <a:moveTo>
                    <a:pt x="152035" y="0"/>
                  </a:moveTo>
                  <a:lnTo>
                    <a:pt x="0" y="54686"/>
                  </a:lnTo>
                  <a:lnTo>
                    <a:pt x="70467" y="200082"/>
                  </a:lnTo>
                  <a:lnTo>
                    <a:pt x="1520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71511" y="3482788"/>
              <a:ext cx="1104265" cy="152400"/>
            </a:xfrm>
            <a:custGeom>
              <a:avLst/>
              <a:gdLst/>
              <a:ahLst/>
              <a:cxnLst/>
              <a:rect l="l" t="t" r="r" b="b"/>
              <a:pathLst>
                <a:path w="1104265" h="152400">
                  <a:moveTo>
                    <a:pt x="1104027" y="0"/>
                  </a:moveTo>
                  <a:lnTo>
                    <a:pt x="1052455" y="17549"/>
                  </a:lnTo>
                  <a:lnTo>
                    <a:pt x="1000938" y="34891"/>
                  </a:lnTo>
                  <a:lnTo>
                    <a:pt x="949532" y="51817"/>
                  </a:lnTo>
                  <a:lnTo>
                    <a:pt x="898293" y="68118"/>
                  </a:lnTo>
                  <a:lnTo>
                    <a:pt x="847276" y="83587"/>
                  </a:lnTo>
                  <a:lnTo>
                    <a:pt x="796536" y="98016"/>
                  </a:lnTo>
                  <a:lnTo>
                    <a:pt x="746129" y="111195"/>
                  </a:lnTo>
                  <a:lnTo>
                    <a:pt x="696110" y="122918"/>
                  </a:lnTo>
                  <a:lnTo>
                    <a:pt x="646536" y="132977"/>
                  </a:lnTo>
                  <a:lnTo>
                    <a:pt x="597461" y="141162"/>
                  </a:lnTo>
                  <a:lnTo>
                    <a:pt x="548941" y="147266"/>
                  </a:lnTo>
                  <a:lnTo>
                    <a:pt x="501031" y="151082"/>
                  </a:lnTo>
                  <a:lnTo>
                    <a:pt x="453787" y="152400"/>
                  </a:lnTo>
                  <a:lnTo>
                    <a:pt x="402840" y="150822"/>
                  </a:lnTo>
                  <a:lnTo>
                    <a:pt x="352686" y="146271"/>
                  </a:lnTo>
                  <a:lnTo>
                    <a:pt x="303251" y="139022"/>
                  </a:lnTo>
                  <a:lnTo>
                    <a:pt x="254463" y="129346"/>
                  </a:lnTo>
                  <a:lnTo>
                    <a:pt x="206250" y="117519"/>
                  </a:lnTo>
                  <a:lnTo>
                    <a:pt x="158537" y="103813"/>
                  </a:lnTo>
                  <a:lnTo>
                    <a:pt x="111252" y="88501"/>
                  </a:lnTo>
                  <a:lnTo>
                    <a:pt x="64322" y="71859"/>
                  </a:lnTo>
                  <a:lnTo>
                    <a:pt x="17674" y="54158"/>
                  </a:lnTo>
                  <a:lnTo>
                    <a:pt x="0" y="4695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6339" y="3428101"/>
              <a:ext cx="152400" cy="200660"/>
            </a:xfrm>
            <a:custGeom>
              <a:avLst/>
              <a:gdLst/>
              <a:ahLst/>
              <a:cxnLst/>
              <a:rect l="l" t="t" r="r" b="b"/>
              <a:pathLst>
                <a:path w="152400" h="200660">
                  <a:moveTo>
                    <a:pt x="152035" y="0"/>
                  </a:moveTo>
                  <a:lnTo>
                    <a:pt x="0" y="54686"/>
                  </a:lnTo>
                  <a:lnTo>
                    <a:pt x="70467" y="200082"/>
                  </a:lnTo>
                  <a:lnTo>
                    <a:pt x="1520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72600" y="5257802"/>
            <a:ext cx="1905000" cy="65405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314960" marR="88900" indent="-218440">
              <a:lnSpc>
                <a:spcPts val="2300"/>
              </a:lnSpc>
              <a:spcBef>
                <a:spcPts val="85"/>
              </a:spcBef>
            </a:pPr>
            <a:r>
              <a:rPr sz="1800" i="1" spc="-10" dirty="0">
                <a:latin typeface="Calibri"/>
                <a:cs typeface="Calibri"/>
              </a:rPr>
              <a:t>Remember: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Delete </a:t>
            </a:r>
            <a:r>
              <a:rPr sz="1800" i="1" dirty="0">
                <a:latin typeface="Calibri"/>
                <a:cs typeface="Calibri"/>
              </a:rPr>
              <a:t>from</a:t>
            </a:r>
            <a:r>
              <a:rPr sz="1800" i="1" spc="38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tail!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426092" y="-12700"/>
            <a:ext cx="779145" cy="1687195"/>
            <a:chOff x="11426092" y="-12700"/>
            <a:chExt cx="779145" cy="1687195"/>
          </a:xfrm>
        </p:grpSpPr>
        <p:sp>
          <p:nvSpPr>
            <p:cNvPr id="22" name="object 22"/>
            <p:cNvSpPr/>
            <p:nvPr/>
          </p:nvSpPr>
          <p:spPr>
            <a:xfrm>
              <a:off x="11438792" y="0"/>
              <a:ext cx="753745" cy="1661795"/>
            </a:xfrm>
            <a:custGeom>
              <a:avLst/>
              <a:gdLst/>
              <a:ahLst/>
              <a:cxnLst/>
              <a:rect l="l" t="t" r="r" b="b"/>
              <a:pathLst>
                <a:path w="753745" h="1661795">
                  <a:moveTo>
                    <a:pt x="753208" y="0"/>
                  </a:moveTo>
                  <a:lnTo>
                    <a:pt x="0" y="0"/>
                  </a:lnTo>
                  <a:lnTo>
                    <a:pt x="0" y="1661746"/>
                  </a:lnTo>
                  <a:lnTo>
                    <a:pt x="753208" y="1661746"/>
                  </a:lnTo>
                  <a:lnTo>
                    <a:pt x="753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438792" y="0"/>
              <a:ext cx="753745" cy="1661795"/>
            </a:xfrm>
            <a:custGeom>
              <a:avLst/>
              <a:gdLst/>
              <a:ahLst/>
              <a:cxnLst/>
              <a:rect l="l" t="t" r="r" b="b"/>
              <a:pathLst>
                <a:path w="753745" h="1661795">
                  <a:moveTo>
                    <a:pt x="0" y="0"/>
                  </a:moveTo>
                  <a:lnTo>
                    <a:pt x="753208" y="0"/>
                  </a:lnTo>
                  <a:lnTo>
                    <a:pt x="753208" y="1661746"/>
                  </a:lnTo>
                  <a:lnTo>
                    <a:pt x="0" y="166174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41081" y="2854638"/>
            <a:ext cx="2882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57021" y="2549838"/>
            <a:ext cx="297180" cy="635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spc="-25" dirty="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600"/>
              </a:spcBef>
            </a:pPr>
            <a:r>
              <a:rPr sz="1500" spc="-25" dirty="0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50081" y="2693273"/>
            <a:ext cx="1536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Calibri"/>
                <a:cs typeface="Calibri"/>
              </a:rPr>
              <a:t>Q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77721" y="3096877"/>
            <a:ext cx="332105" cy="4870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75"/>
              </a:spcBef>
            </a:pPr>
            <a:r>
              <a:rPr sz="1200" spc="-25" dirty="0">
                <a:latin typeface="Calibri"/>
                <a:cs typeface="Calibri"/>
              </a:rPr>
              <a:t>NSW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500" spc="-50" dirty="0">
                <a:latin typeface="Calibri"/>
                <a:cs typeface="Calibri"/>
              </a:rPr>
              <a:t>V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186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Enforcing</a:t>
            </a:r>
            <a:r>
              <a:rPr sz="4400" spc="-110" dirty="0"/>
              <a:t> </a:t>
            </a:r>
            <a:r>
              <a:rPr sz="4400" dirty="0"/>
              <a:t>Arc</a:t>
            </a:r>
            <a:r>
              <a:rPr sz="4400" spc="-105" dirty="0"/>
              <a:t> </a:t>
            </a:r>
            <a:r>
              <a:rPr sz="4400" spc="-10" dirty="0"/>
              <a:t>Consistency</a:t>
            </a:r>
            <a:r>
              <a:rPr sz="4400" spc="-105" dirty="0"/>
              <a:t> </a:t>
            </a:r>
            <a:r>
              <a:rPr sz="4400" dirty="0"/>
              <a:t>in</a:t>
            </a:r>
            <a:r>
              <a:rPr sz="4400" spc="-105" dirty="0"/>
              <a:t> </a:t>
            </a:r>
            <a:r>
              <a:rPr sz="4400" dirty="0"/>
              <a:t>a</a:t>
            </a:r>
            <a:r>
              <a:rPr sz="4400" spc="-105" dirty="0"/>
              <a:t> </a:t>
            </a:r>
            <a:r>
              <a:rPr sz="4400" spc="-25" dirty="0"/>
              <a:t>CSP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623817" y="5634660"/>
            <a:ext cx="154305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4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spc="240" dirty="0">
                <a:solidFill>
                  <a:srgbClr val="333399"/>
                </a:solidFill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1291" y="5603059"/>
            <a:ext cx="6508750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Runtime:</a:t>
            </a:r>
            <a:r>
              <a:rPr sz="20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O(n</a:t>
            </a:r>
            <a:r>
              <a:rPr sz="1950" baseline="17094" dirty="0">
                <a:solidFill>
                  <a:srgbClr val="333399"/>
                </a:solidFill>
                <a:latin typeface="Calibri"/>
                <a:cs typeface="Calibri"/>
              </a:rPr>
              <a:t>2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d</a:t>
            </a:r>
            <a:r>
              <a:rPr sz="1950" baseline="17094" dirty="0">
                <a:solidFill>
                  <a:srgbClr val="333399"/>
                </a:solidFill>
                <a:latin typeface="Calibri"/>
                <a:cs typeface="Calibri"/>
              </a:rPr>
              <a:t>3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),</a:t>
            </a:r>
            <a:r>
              <a:rPr sz="20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0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reduced</a:t>
            </a:r>
            <a:r>
              <a:rPr sz="20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O(n</a:t>
            </a:r>
            <a:r>
              <a:rPr sz="1950" spc="-15" baseline="17094" dirty="0">
                <a:solidFill>
                  <a:srgbClr val="333399"/>
                </a:solidFill>
                <a:latin typeface="Calibri"/>
                <a:cs typeface="Calibri"/>
              </a:rPr>
              <a:t>2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d</a:t>
            </a:r>
            <a:r>
              <a:rPr sz="1950" spc="-15" baseline="17094" dirty="0">
                <a:solidFill>
                  <a:srgbClr val="333399"/>
                </a:solidFill>
                <a:latin typeface="Calibri"/>
                <a:cs typeface="Calibri"/>
              </a:rPr>
              <a:t>2</a:t>
            </a:r>
            <a:r>
              <a:rPr sz="2000" spc="-10" dirty="0">
                <a:solidFill>
                  <a:srgbClr val="333399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85"/>
              </a:spcBef>
            </a:pP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…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but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detecting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all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possible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future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problems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NP-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hard</a:t>
            </a:r>
            <a:r>
              <a:rPr sz="20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33399"/>
                </a:solidFill>
                <a:latin typeface="Calibri"/>
                <a:cs typeface="Calibri"/>
              </a:rPr>
              <a:t>why?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2400" y="1396970"/>
            <a:ext cx="6845300" cy="405928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303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Limitations</a:t>
            </a:r>
            <a:r>
              <a:rPr sz="4400" spc="-110" dirty="0"/>
              <a:t> </a:t>
            </a:r>
            <a:r>
              <a:rPr sz="4400" dirty="0"/>
              <a:t>of</a:t>
            </a:r>
            <a:r>
              <a:rPr sz="4400" spc="-110" dirty="0"/>
              <a:t> </a:t>
            </a:r>
            <a:r>
              <a:rPr sz="4400" dirty="0"/>
              <a:t>Arc</a:t>
            </a:r>
            <a:r>
              <a:rPr sz="4400" spc="-110" dirty="0"/>
              <a:t> </a:t>
            </a:r>
            <a:r>
              <a:rPr sz="4400" spc="-10" dirty="0"/>
              <a:t>Consistency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377190" indent="-339090">
              <a:lnSpc>
                <a:spcPct val="100000"/>
              </a:lnSpc>
              <a:spcBef>
                <a:spcPts val="1085"/>
              </a:spcBef>
              <a:buFont typeface="Trebuchet MS"/>
              <a:buChar char="▪"/>
              <a:tabLst>
                <a:tab pos="377190" algn="l"/>
              </a:tabLst>
            </a:pPr>
            <a:r>
              <a:rPr sz="3150" dirty="0"/>
              <a:t>After</a:t>
            </a:r>
            <a:r>
              <a:rPr sz="3150" spc="-75" dirty="0"/>
              <a:t> </a:t>
            </a:r>
            <a:r>
              <a:rPr sz="3150" dirty="0"/>
              <a:t>enforcing</a:t>
            </a:r>
            <a:r>
              <a:rPr sz="3150" spc="-75" dirty="0"/>
              <a:t> </a:t>
            </a:r>
            <a:r>
              <a:rPr sz="3150" dirty="0"/>
              <a:t>arc</a:t>
            </a:r>
            <a:r>
              <a:rPr sz="3150" spc="-70" dirty="0"/>
              <a:t> </a:t>
            </a:r>
            <a:r>
              <a:rPr sz="3150" spc="-10" dirty="0"/>
              <a:t>consistency:</a:t>
            </a:r>
            <a:endParaRPr sz="3150"/>
          </a:p>
          <a:p>
            <a:pPr marL="776605" lvl="1" indent="-281940">
              <a:lnSpc>
                <a:spcPct val="100000"/>
              </a:lnSpc>
              <a:spcBef>
                <a:spcPts val="869"/>
              </a:spcBef>
              <a:buFont typeface="Trebuchet MS"/>
              <a:buChar char="▪"/>
              <a:tabLst>
                <a:tab pos="776605" algn="l"/>
              </a:tabLst>
            </a:pPr>
            <a:r>
              <a:rPr sz="2750" dirty="0">
                <a:latin typeface="Calibri"/>
                <a:cs typeface="Calibri"/>
              </a:rPr>
              <a:t>Can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have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one solution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left</a:t>
            </a:r>
            <a:endParaRPr sz="2750">
              <a:latin typeface="Calibri"/>
              <a:cs typeface="Calibri"/>
            </a:endParaRPr>
          </a:p>
          <a:p>
            <a:pPr marL="776605" lvl="1" indent="-281940">
              <a:lnSpc>
                <a:spcPct val="100000"/>
              </a:lnSpc>
              <a:spcBef>
                <a:spcPts val="765"/>
              </a:spcBef>
              <a:buFont typeface="Trebuchet MS"/>
              <a:buChar char="▪"/>
              <a:tabLst>
                <a:tab pos="776605" algn="l"/>
              </a:tabLst>
            </a:pPr>
            <a:r>
              <a:rPr sz="2750" dirty="0">
                <a:latin typeface="Calibri"/>
                <a:cs typeface="Calibri"/>
              </a:rPr>
              <a:t>Can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have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multiple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solutions </a:t>
            </a:r>
            <a:r>
              <a:rPr sz="2750" spc="-20" dirty="0">
                <a:latin typeface="Calibri"/>
                <a:cs typeface="Calibri"/>
              </a:rPr>
              <a:t>left</a:t>
            </a:r>
            <a:endParaRPr sz="2750">
              <a:latin typeface="Calibri"/>
              <a:cs typeface="Calibri"/>
            </a:endParaRPr>
          </a:p>
          <a:p>
            <a:pPr marL="776605" marR="346710" lvl="1" indent="-281940">
              <a:lnSpc>
                <a:spcPct val="103000"/>
              </a:lnSpc>
              <a:spcBef>
                <a:spcPts val="665"/>
              </a:spcBef>
              <a:buFont typeface="Trebuchet MS"/>
              <a:buChar char="▪"/>
              <a:tabLst>
                <a:tab pos="777875" algn="l"/>
              </a:tabLst>
            </a:pPr>
            <a:r>
              <a:rPr sz="2750" dirty="0">
                <a:latin typeface="Calibri"/>
                <a:cs typeface="Calibri"/>
              </a:rPr>
              <a:t>Can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have no</a:t>
            </a:r>
            <a:r>
              <a:rPr sz="2750" spc="-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solutions left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(and 	</a:t>
            </a:r>
            <a:r>
              <a:rPr sz="2750" dirty="0">
                <a:latin typeface="Calibri"/>
                <a:cs typeface="Calibri"/>
              </a:rPr>
              <a:t>not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know</a:t>
            </a:r>
            <a:r>
              <a:rPr sz="2750" spc="-1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it)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7" y="4625625"/>
            <a:ext cx="5403215" cy="1003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marR="5080" indent="-339725">
              <a:lnSpc>
                <a:spcPts val="3900"/>
              </a:lnSpc>
              <a:spcBef>
                <a:spcPts val="100"/>
              </a:spcBef>
              <a:buFont typeface="Trebuchet MS"/>
              <a:buChar char="▪"/>
              <a:tabLst>
                <a:tab pos="351790" algn="l"/>
              </a:tabLst>
            </a:pPr>
            <a:r>
              <a:rPr sz="3150" dirty="0">
                <a:solidFill>
                  <a:srgbClr val="333399"/>
                </a:solidFill>
                <a:latin typeface="Calibri"/>
                <a:cs typeface="Calibri"/>
              </a:rPr>
              <a:t>Arc</a:t>
            </a:r>
            <a:r>
              <a:rPr sz="315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150" dirty="0">
                <a:solidFill>
                  <a:srgbClr val="333399"/>
                </a:solidFill>
                <a:latin typeface="Calibri"/>
                <a:cs typeface="Calibri"/>
              </a:rPr>
              <a:t>consistency</a:t>
            </a:r>
            <a:r>
              <a:rPr sz="315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150" dirty="0">
                <a:solidFill>
                  <a:srgbClr val="333399"/>
                </a:solidFill>
                <a:latin typeface="Calibri"/>
                <a:cs typeface="Calibri"/>
              </a:rPr>
              <a:t>still</a:t>
            </a:r>
            <a:r>
              <a:rPr sz="315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150" dirty="0">
                <a:solidFill>
                  <a:srgbClr val="333399"/>
                </a:solidFill>
                <a:latin typeface="Calibri"/>
                <a:cs typeface="Calibri"/>
              </a:rPr>
              <a:t>runs</a:t>
            </a:r>
            <a:r>
              <a:rPr sz="315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150" spc="-10" dirty="0">
                <a:solidFill>
                  <a:srgbClr val="333399"/>
                </a:solidFill>
                <a:latin typeface="Calibri"/>
                <a:cs typeface="Calibri"/>
              </a:rPr>
              <a:t>inside </a:t>
            </a:r>
            <a:r>
              <a:rPr sz="315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315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150" dirty="0">
                <a:solidFill>
                  <a:srgbClr val="333399"/>
                </a:solidFill>
                <a:latin typeface="Calibri"/>
                <a:cs typeface="Calibri"/>
              </a:rPr>
              <a:t>backtracking</a:t>
            </a:r>
            <a:r>
              <a:rPr sz="315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150" spc="-10" dirty="0">
                <a:solidFill>
                  <a:srgbClr val="333399"/>
                </a:solidFill>
                <a:latin typeface="Calibri"/>
                <a:cs typeface="Calibri"/>
              </a:rPr>
              <a:t>search!</a:t>
            </a:r>
            <a:endParaRPr sz="3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39119" y="1519319"/>
            <a:ext cx="3133725" cy="1533525"/>
            <a:chOff x="7539119" y="1519319"/>
            <a:chExt cx="3133725" cy="1533525"/>
          </a:xfrm>
        </p:grpSpPr>
        <p:sp>
          <p:nvSpPr>
            <p:cNvPr id="6" name="object 6"/>
            <p:cNvSpPr/>
            <p:nvPr/>
          </p:nvSpPr>
          <p:spPr>
            <a:xfrm>
              <a:off x="8510814" y="1523999"/>
              <a:ext cx="1190625" cy="554355"/>
            </a:xfrm>
            <a:custGeom>
              <a:avLst/>
              <a:gdLst/>
              <a:ahLst/>
              <a:cxnLst/>
              <a:rect l="l" t="t" r="r" b="b"/>
              <a:pathLst>
                <a:path w="1190625" h="554355">
                  <a:moveTo>
                    <a:pt x="1015875" y="81158"/>
                  </a:moveTo>
                  <a:lnTo>
                    <a:pt x="1062117" y="105326"/>
                  </a:lnTo>
                  <a:lnTo>
                    <a:pt x="1101245" y="131258"/>
                  </a:lnTo>
                  <a:lnTo>
                    <a:pt x="1133258" y="158660"/>
                  </a:lnTo>
                  <a:lnTo>
                    <a:pt x="1175943" y="216699"/>
                  </a:lnTo>
                  <a:lnTo>
                    <a:pt x="1190172" y="277091"/>
                  </a:lnTo>
                  <a:lnTo>
                    <a:pt x="1186614" y="307433"/>
                  </a:lnTo>
                  <a:lnTo>
                    <a:pt x="1158158" y="366942"/>
                  </a:lnTo>
                  <a:lnTo>
                    <a:pt x="1101245" y="422923"/>
                  </a:lnTo>
                  <a:lnTo>
                    <a:pt x="1062117" y="448855"/>
                  </a:lnTo>
                  <a:lnTo>
                    <a:pt x="1015875" y="473023"/>
                  </a:lnTo>
                  <a:lnTo>
                    <a:pt x="975855" y="490057"/>
                  </a:lnTo>
                  <a:lnTo>
                    <a:pt x="933458" y="505086"/>
                  </a:lnTo>
                  <a:lnTo>
                    <a:pt x="888981" y="518111"/>
                  </a:lnTo>
                  <a:lnTo>
                    <a:pt x="842722" y="529133"/>
                  </a:lnTo>
                  <a:lnTo>
                    <a:pt x="794978" y="538150"/>
                  </a:lnTo>
                  <a:lnTo>
                    <a:pt x="746044" y="545164"/>
                  </a:lnTo>
                  <a:lnTo>
                    <a:pt x="696220" y="550174"/>
                  </a:lnTo>
                  <a:lnTo>
                    <a:pt x="645801" y="553180"/>
                  </a:lnTo>
                  <a:lnTo>
                    <a:pt x="595086" y="554181"/>
                  </a:lnTo>
                  <a:lnTo>
                    <a:pt x="544370" y="553180"/>
                  </a:lnTo>
                  <a:lnTo>
                    <a:pt x="493951" y="550174"/>
                  </a:lnTo>
                  <a:lnTo>
                    <a:pt x="444127" y="545164"/>
                  </a:lnTo>
                  <a:lnTo>
                    <a:pt x="395194" y="538150"/>
                  </a:lnTo>
                  <a:lnTo>
                    <a:pt x="347449" y="529133"/>
                  </a:lnTo>
                  <a:lnTo>
                    <a:pt x="301190" y="518111"/>
                  </a:lnTo>
                  <a:lnTo>
                    <a:pt x="256713" y="505086"/>
                  </a:lnTo>
                  <a:lnTo>
                    <a:pt x="214316" y="490057"/>
                  </a:lnTo>
                  <a:lnTo>
                    <a:pt x="174296" y="473023"/>
                  </a:lnTo>
                  <a:lnTo>
                    <a:pt x="128054" y="448855"/>
                  </a:lnTo>
                  <a:lnTo>
                    <a:pt x="88926" y="422923"/>
                  </a:lnTo>
                  <a:lnTo>
                    <a:pt x="56913" y="395521"/>
                  </a:lnTo>
                  <a:lnTo>
                    <a:pt x="14228" y="337482"/>
                  </a:lnTo>
                  <a:lnTo>
                    <a:pt x="0" y="277091"/>
                  </a:lnTo>
                  <a:lnTo>
                    <a:pt x="3557" y="246748"/>
                  </a:lnTo>
                  <a:lnTo>
                    <a:pt x="32013" y="187239"/>
                  </a:lnTo>
                  <a:lnTo>
                    <a:pt x="88926" y="131258"/>
                  </a:lnTo>
                  <a:lnTo>
                    <a:pt x="128054" y="105326"/>
                  </a:lnTo>
                  <a:lnTo>
                    <a:pt x="174296" y="81158"/>
                  </a:lnTo>
                  <a:lnTo>
                    <a:pt x="214316" y="64124"/>
                  </a:lnTo>
                  <a:lnTo>
                    <a:pt x="256713" y="49095"/>
                  </a:lnTo>
                  <a:lnTo>
                    <a:pt x="301190" y="36070"/>
                  </a:lnTo>
                  <a:lnTo>
                    <a:pt x="347449" y="25048"/>
                  </a:lnTo>
                  <a:lnTo>
                    <a:pt x="395194" y="16031"/>
                  </a:lnTo>
                  <a:lnTo>
                    <a:pt x="444127" y="9017"/>
                  </a:lnTo>
                  <a:lnTo>
                    <a:pt x="493951" y="4007"/>
                  </a:lnTo>
                  <a:lnTo>
                    <a:pt x="544370" y="1001"/>
                  </a:lnTo>
                  <a:lnTo>
                    <a:pt x="595086" y="0"/>
                  </a:lnTo>
                  <a:lnTo>
                    <a:pt x="645801" y="1001"/>
                  </a:lnTo>
                  <a:lnTo>
                    <a:pt x="696220" y="4007"/>
                  </a:lnTo>
                  <a:lnTo>
                    <a:pt x="746044" y="9017"/>
                  </a:lnTo>
                  <a:lnTo>
                    <a:pt x="794978" y="16031"/>
                  </a:lnTo>
                  <a:lnTo>
                    <a:pt x="842722" y="25048"/>
                  </a:lnTo>
                  <a:lnTo>
                    <a:pt x="888981" y="36070"/>
                  </a:lnTo>
                  <a:lnTo>
                    <a:pt x="933458" y="49095"/>
                  </a:lnTo>
                  <a:lnTo>
                    <a:pt x="975855" y="64124"/>
                  </a:lnTo>
                  <a:lnTo>
                    <a:pt x="1015875" y="81158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77828" y="2493817"/>
              <a:ext cx="1190625" cy="554355"/>
            </a:xfrm>
            <a:custGeom>
              <a:avLst/>
              <a:gdLst/>
              <a:ahLst/>
              <a:cxnLst/>
              <a:rect l="l" t="t" r="r" b="b"/>
              <a:pathLst>
                <a:path w="1190625" h="554355">
                  <a:moveTo>
                    <a:pt x="1015875" y="81158"/>
                  </a:moveTo>
                  <a:lnTo>
                    <a:pt x="1062117" y="105326"/>
                  </a:lnTo>
                  <a:lnTo>
                    <a:pt x="1101245" y="131258"/>
                  </a:lnTo>
                  <a:lnTo>
                    <a:pt x="1133258" y="158660"/>
                  </a:lnTo>
                  <a:lnTo>
                    <a:pt x="1175943" y="216699"/>
                  </a:lnTo>
                  <a:lnTo>
                    <a:pt x="1190172" y="277091"/>
                  </a:lnTo>
                  <a:lnTo>
                    <a:pt x="1186614" y="307433"/>
                  </a:lnTo>
                  <a:lnTo>
                    <a:pt x="1158158" y="366942"/>
                  </a:lnTo>
                  <a:lnTo>
                    <a:pt x="1101245" y="422923"/>
                  </a:lnTo>
                  <a:lnTo>
                    <a:pt x="1062117" y="448855"/>
                  </a:lnTo>
                  <a:lnTo>
                    <a:pt x="1015875" y="473023"/>
                  </a:lnTo>
                  <a:lnTo>
                    <a:pt x="975855" y="490057"/>
                  </a:lnTo>
                  <a:lnTo>
                    <a:pt x="933458" y="505086"/>
                  </a:lnTo>
                  <a:lnTo>
                    <a:pt x="888981" y="518111"/>
                  </a:lnTo>
                  <a:lnTo>
                    <a:pt x="842722" y="529133"/>
                  </a:lnTo>
                  <a:lnTo>
                    <a:pt x="794978" y="538150"/>
                  </a:lnTo>
                  <a:lnTo>
                    <a:pt x="746044" y="545164"/>
                  </a:lnTo>
                  <a:lnTo>
                    <a:pt x="696220" y="550174"/>
                  </a:lnTo>
                  <a:lnTo>
                    <a:pt x="645801" y="553180"/>
                  </a:lnTo>
                  <a:lnTo>
                    <a:pt x="595086" y="554181"/>
                  </a:lnTo>
                  <a:lnTo>
                    <a:pt x="544370" y="553180"/>
                  </a:lnTo>
                  <a:lnTo>
                    <a:pt x="493951" y="550174"/>
                  </a:lnTo>
                  <a:lnTo>
                    <a:pt x="444127" y="545164"/>
                  </a:lnTo>
                  <a:lnTo>
                    <a:pt x="395194" y="538150"/>
                  </a:lnTo>
                  <a:lnTo>
                    <a:pt x="347449" y="529133"/>
                  </a:lnTo>
                  <a:lnTo>
                    <a:pt x="301190" y="518111"/>
                  </a:lnTo>
                  <a:lnTo>
                    <a:pt x="256713" y="505086"/>
                  </a:lnTo>
                  <a:lnTo>
                    <a:pt x="214316" y="490057"/>
                  </a:lnTo>
                  <a:lnTo>
                    <a:pt x="174296" y="473023"/>
                  </a:lnTo>
                  <a:lnTo>
                    <a:pt x="128054" y="448855"/>
                  </a:lnTo>
                  <a:lnTo>
                    <a:pt x="88926" y="422923"/>
                  </a:lnTo>
                  <a:lnTo>
                    <a:pt x="56913" y="395521"/>
                  </a:lnTo>
                  <a:lnTo>
                    <a:pt x="14228" y="337482"/>
                  </a:lnTo>
                  <a:lnTo>
                    <a:pt x="0" y="277091"/>
                  </a:lnTo>
                  <a:lnTo>
                    <a:pt x="3557" y="246748"/>
                  </a:lnTo>
                  <a:lnTo>
                    <a:pt x="32013" y="187239"/>
                  </a:lnTo>
                  <a:lnTo>
                    <a:pt x="88926" y="131258"/>
                  </a:lnTo>
                  <a:lnTo>
                    <a:pt x="128054" y="105326"/>
                  </a:lnTo>
                  <a:lnTo>
                    <a:pt x="174296" y="81158"/>
                  </a:lnTo>
                  <a:lnTo>
                    <a:pt x="214316" y="64124"/>
                  </a:lnTo>
                  <a:lnTo>
                    <a:pt x="256713" y="49095"/>
                  </a:lnTo>
                  <a:lnTo>
                    <a:pt x="301190" y="36070"/>
                  </a:lnTo>
                  <a:lnTo>
                    <a:pt x="347449" y="25048"/>
                  </a:lnTo>
                  <a:lnTo>
                    <a:pt x="395194" y="16031"/>
                  </a:lnTo>
                  <a:lnTo>
                    <a:pt x="444127" y="9017"/>
                  </a:lnTo>
                  <a:lnTo>
                    <a:pt x="493951" y="4007"/>
                  </a:lnTo>
                  <a:lnTo>
                    <a:pt x="544370" y="1001"/>
                  </a:lnTo>
                  <a:lnTo>
                    <a:pt x="595086" y="0"/>
                  </a:lnTo>
                  <a:lnTo>
                    <a:pt x="645801" y="1001"/>
                  </a:lnTo>
                  <a:lnTo>
                    <a:pt x="696220" y="4007"/>
                  </a:lnTo>
                  <a:lnTo>
                    <a:pt x="746044" y="9017"/>
                  </a:lnTo>
                  <a:lnTo>
                    <a:pt x="794978" y="16031"/>
                  </a:lnTo>
                  <a:lnTo>
                    <a:pt x="842722" y="25048"/>
                  </a:lnTo>
                  <a:lnTo>
                    <a:pt x="888981" y="36070"/>
                  </a:lnTo>
                  <a:lnTo>
                    <a:pt x="933458" y="49095"/>
                  </a:lnTo>
                  <a:lnTo>
                    <a:pt x="975855" y="64124"/>
                  </a:lnTo>
                  <a:lnTo>
                    <a:pt x="1015875" y="81158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43799" y="2493817"/>
              <a:ext cx="1190625" cy="554355"/>
            </a:xfrm>
            <a:custGeom>
              <a:avLst/>
              <a:gdLst/>
              <a:ahLst/>
              <a:cxnLst/>
              <a:rect l="l" t="t" r="r" b="b"/>
              <a:pathLst>
                <a:path w="1190625" h="554355">
                  <a:moveTo>
                    <a:pt x="1015875" y="81158"/>
                  </a:moveTo>
                  <a:lnTo>
                    <a:pt x="1062117" y="105326"/>
                  </a:lnTo>
                  <a:lnTo>
                    <a:pt x="1101245" y="131258"/>
                  </a:lnTo>
                  <a:lnTo>
                    <a:pt x="1133258" y="158660"/>
                  </a:lnTo>
                  <a:lnTo>
                    <a:pt x="1175943" y="216699"/>
                  </a:lnTo>
                  <a:lnTo>
                    <a:pt x="1190172" y="277091"/>
                  </a:lnTo>
                  <a:lnTo>
                    <a:pt x="1186614" y="307433"/>
                  </a:lnTo>
                  <a:lnTo>
                    <a:pt x="1158158" y="366942"/>
                  </a:lnTo>
                  <a:lnTo>
                    <a:pt x="1101245" y="422923"/>
                  </a:lnTo>
                  <a:lnTo>
                    <a:pt x="1062117" y="448855"/>
                  </a:lnTo>
                  <a:lnTo>
                    <a:pt x="1015875" y="473023"/>
                  </a:lnTo>
                  <a:lnTo>
                    <a:pt x="975855" y="490057"/>
                  </a:lnTo>
                  <a:lnTo>
                    <a:pt x="933458" y="505086"/>
                  </a:lnTo>
                  <a:lnTo>
                    <a:pt x="888981" y="518111"/>
                  </a:lnTo>
                  <a:lnTo>
                    <a:pt x="842722" y="529133"/>
                  </a:lnTo>
                  <a:lnTo>
                    <a:pt x="794978" y="538150"/>
                  </a:lnTo>
                  <a:lnTo>
                    <a:pt x="746044" y="545164"/>
                  </a:lnTo>
                  <a:lnTo>
                    <a:pt x="696220" y="550174"/>
                  </a:lnTo>
                  <a:lnTo>
                    <a:pt x="645801" y="553180"/>
                  </a:lnTo>
                  <a:lnTo>
                    <a:pt x="595086" y="554181"/>
                  </a:lnTo>
                  <a:lnTo>
                    <a:pt x="544370" y="553180"/>
                  </a:lnTo>
                  <a:lnTo>
                    <a:pt x="493951" y="550174"/>
                  </a:lnTo>
                  <a:lnTo>
                    <a:pt x="444127" y="545164"/>
                  </a:lnTo>
                  <a:lnTo>
                    <a:pt x="395194" y="538150"/>
                  </a:lnTo>
                  <a:lnTo>
                    <a:pt x="347449" y="529133"/>
                  </a:lnTo>
                  <a:lnTo>
                    <a:pt x="301190" y="518111"/>
                  </a:lnTo>
                  <a:lnTo>
                    <a:pt x="256713" y="505086"/>
                  </a:lnTo>
                  <a:lnTo>
                    <a:pt x="214316" y="490057"/>
                  </a:lnTo>
                  <a:lnTo>
                    <a:pt x="174296" y="473023"/>
                  </a:lnTo>
                  <a:lnTo>
                    <a:pt x="128054" y="448855"/>
                  </a:lnTo>
                  <a:lnTo>
                    <a:pt x="88926" y="422923"/>
                  </a:lnTo>
                  <a:lnTo>
                    <a:pt x="56913" y="395521"/>
                  </a:lnTo>
                  <a:lnTo>
                    <a:pt x="14228" y="337482"/>
                  </a:lnTo>
                  <a:lnTo>
                    <a:pt x="0" y="277091"/>
                  </a:lnTo>
                  <a:lnTo>
                    <a:pt x="3557" y="246748"/>
                  </a:lnTo>
                  <a:lnTo>
                    <a:pt x="32013" y="187239"/>
                  </a:lnTo>
                  <a:lnTo>
                    <a:pt x="88926" y="131258"/>
                  </a:lnTo>
                  <a:lnTo>
                    <a:pt x="128054" y="105326"/>
                  </a:lnTo>
                  <a:lnTo>
                    <a:pt x="174296" y="81158"/>
                  </a:lnTo>
                  <a:lnTo>
                    <a:pt x="214316" y="64124"/>
                  </a:lnTo>
                  <a:lnTo>
                    <a:pt x="256713" y="49095"/>
                  </a:lnTo>
                  <a:lnTo>
                    <a:pt x="301190" y="36070"/>
                  </a:lnTo>
                  <a:lnTo>
                    <a:pt x="347449" y="25048"/>
                  </a:lnTo>
                  <a:lnTo>
                    <a:pt x="395194" y="16031"/>
                  </a:lnTo>
                  <a:lnTo>
                    <a:pt x="444127" y="9017"/>
                  </a:lnTo>
                  <a:lnTo>
                    <a:pt x="493951" y="4007"/>
                  </a:lnTo>
                  <a:lnTo>
                    <a:pt x="544370" y="1001"/>
                  </a:lnTo>
                  <a:lnTo>
                    <a:pt x="595086" y="0"/>
                  </a:lnTo>
                  <a:lnTo>
                    <a:pt x="645801" y="1001"/>
                  </a:lnTo>
                  <a:lnTo>
                    <a:pt x="696220" y="4007"/>
                  </a:lnTo>
                  <a:lnTo>
                    <a:pt x="746044" y="9017"/>
                  </a:lnTo>
                  <a:lnTo>
                    <a:pt x="794978" y="16031"/>
                  </a:lnTo>
                  <a:lnTo>
                    <a:pt x="842722" y="25048"/>
                  </a:lnTo>
                  <a:lnTo>
                    <a:pt x="888981" y="36070"/>
                  </a:lnTo>
                  <a:lnTo>
                    <a:pt x="933458" y="49095"/>
                  </a:lnTo>
                  <a:lnTo>
                    <a:pt x="975855" y="64124"/>
                  </a:lnTo>
                  <a:lnTo>
                    <a:pt x="1015875" y="81158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09749" y="2073947"/>
              <a:ext cx="1717039" cy="703580"/>
            </a:xfrm>
            <a:custGeom>
              <a:avLst/>
              <a:gdLst/>
              <a:ahLst/>
              <a:cxnLst/>
              <a:rect l="l" t="t" r="r" b="b"/>
              <a:pathLst>
                <a:path w="1717040" h="703580">
                  <a:moveTo>
                    <a:pt x="1268082" y="693724"/>
                  </a:moveTo>
                  <a:lnTo>
                    <a:pt x="524217" y="692289"/>
                  </a:lnTo>
                  <a:lnTo>
                    <a:pt x="524205" y="701649"/>
                  </a:lnTo>
                  <a:lnTo>
                    <a:pt x="1268056" y="703084"/>
                  </a:lnTo>
                  <a:lnTo>
                    <a:pt x="1268082" y="693724"/>
                  </a:lnTo>
                  <a:close/>
                </a:path>
                <a:path w="1717040" h="703580">
                  <a:moveTo>
                    <a:pt x="1716506" y="415709"/>
                  </a:moveTo>
                  <a:lnTo>
                    <a:pt x="898258" y="63"/>
                  </a:lnTo>
                  <a:lnTo>
                    <a:pt x="896937" y="2654"/>
                  </a:lnTo>
                  <a:lnTo>
                    <a:pt x="895718" y="0"/>
                  </a:lnTo>
                  <a:lnTo>
                    <a:pt x="0" y="415632"/>
                  </a:lnTo>
                  <a:lnTo>
                    <a:pt x="3937" y="424116"/>
                  </a:lnTo>
                  <a:lnTo>
                    <a:pt x="896797" y="9817"/>
                  </a:lnTo>
                  <a:lnTo>
                    <a:pt x="1712264" y="424053"/>
                  </a:lnTo>
                  <a:lnTo>
                    <a:pt x="1716506" y="4157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86799" y="1676399"/>
              <a:ext cx="838200" cy="228600"/>
            </a:xfrm>
            <a:custGeom>
              <a:avLst/>
              <a:gdLst/>
              <a:ahLst/>
              <a:cxnLst/>
              <a:rect l="l" t="t" r="r" b="b"/>
              <a:pathLst>
                <a:path w="838200" h="228600">
                  <a:moveTo>
                    <a:pt x="8382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838200" y="22860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86799" y="1676399"/>
              <a:ext cx="838200" cy="228600"/>
            </a:xfrm>
            <a:custGeom>
              <a:avLst/>
              <a:gdLst/>
              <a:ahLst/>
              <a:cxnLst/>
              <a:rect l="l" t="t" r="r" b="b"/>
              <a:pathLst>
                <a:path w="838200" h="228600">
                  <a:moveTo>
                    <a:pt x="0" y="0"/>
                  </a:moveTo>
                  <a:lnTo>
                    <a:pt x="838200" y="0"/>
                  </a:lnTo>
                  <a:lnTo>
                    <a:pt x="8382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996237" y="2662237"/>
            <a:ext cx="238125" cy="238125"/>
            <a:chOff x="7996237" y="2662237"/>
            <a:chExt cx="238125" cy="238125"/>
          </a:xfrm>
        </p:grpSpPr>
        <p:sp>
          <p:nvSpPr>
            <p:cNvPr id="13" name="object 13"/>
            <p:cNvSpPr/>
            <p:nvPr/>
          </p:nvSpPr>
          <p:spPr>
            <a:xfrm>
              <a:off x="8001000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01000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301037" y="2662237"/>
            <a:ext cx="238125" cy="238125"/>
            <a:chOff x="8301037" y="2662237"/>
            <a:chExt cx="238125" cy="238125"/>
          </a:xfrm>
        </p:grpSpPr>
        <p:sp>
          <p:nvSpPr>
            <p:cNvPr id="16" name="object 16"/>
            <p:cNvSpPr/>
            <p:nvPr/>
          </p:nvSpPr>
          <p:spPr>
            <a:xfrm>
              <a:off x="8305800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05800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977437" y="2662237"/>
            <a:ext cx="238125" cy="238125"/>
            <a:chOff x="9977437" y="2662237"/>
            <a:chExt cx="238125" cy="238125"/>
          </a:xfrm>
        </p:grpSpPr>
        <p:sp>
          <p:nvSpPr>
            <p:cNvPr id="19" name="object 19"/>
            <p:cNvSpPr/>
            <p:nvPr/>
          </p:nvSpPr>
          <p:spPr>
            <a:xfrm>
              <a:off x="9982200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82200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0282237" y="2662237"/>
            <a:ext cx="238125" cy="238125"/>
            <a:chOff x="10282237" y="2662237"/>
            <a:chExt cx="238125" cy="238125"/>
          </a:xfrm>
        </p:grpSpPr>
        <p:sp>
          <p:nvSpPr>
            <p:cNvPr id="22" name="object 22"/>
            <p:cNvSpPr/>
            <p:nvPr/>
          </p:nvSpPr>
          <p:spPr>
            <a:xfrm>
              <a:off x="10287000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287000" y="26670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539119" y="3576720"/>
            <a:ext cx="3133725" cy="1533525"/>
            <a:chOff x="7539119" y="3576720"/>
            <a:chExt cx="3133725" cy="1533525"/>
          </a:xfrm>
        </p:grpSpPr>
        <p:sp>
          <p:nvSpPr>
            <p:cNvPr id="25" name="object 25"/>
            <p:cNvSpPr/>
            <p:nvPr/>
          </p:nvSpPr>
          <p:spPr>
            <a:xfrm>
              <a:off x="8510814" y="3581400"/>
              <a:ext cx="1190625" cy="554355"/>
            </a:xfrm>
            <a:custGeom>
              <a:avLst/>
              <a:gdLst/>
              <a:ahLst/>
              <a:cxnLst/>
              <a:rect l="l" t="t" r="r" b="b"/>
              <a:pathLst>
                <a:path w="1190625" h="554354">
                  <a:moveTo>
                    <a:pt x="1015875" y="81158"/>
                  </a:moveTo>
                  <a:lnTo>
                    <a:pt x="1062117" y="105326"/>
                  </a:lnTo>
                  <a:lnTo>
                    <a:pt x="1101245" y="131258"/>
                  </a:lnTo>
                  <a:lnTo>
                    <a:pt x="1133258" y="158660"/>
                  </a:lnTo>
                  <a:lnTo>
                    <a:pt x="1175943" y="216699"/>
                  </a:lnTo>
                  <a:lnTo>
                    <a:pt x="1190172" y="277091"/>
                  </a:lnTo>
                  <a:lnTo>
                    <a:pt x="1186614" y="307433"/>
                  </a:lnTo>
                  <a:lnTo>
                    <a:pt x="1158158" y="366942"/>
                  </a:lnTo>
                  <a:lnTo>
                    <a:pt x="1101245" y="422923"/>
                  </a:lnTo>
                  <a:lnTo>
                    <a:pt x="1062117" y="448855"/>
                  </a:lnTo>
                  <a:lnTo>
                    <a:pt x="1015875" y="473023"/>
                  </a:lnTo>
                  <a:lnTo>
                    <a:pt x="975855" y="490057"/>
                  </a:lnTo>
                  <a:lnTo>
                    <a:pt x="933458" y="505086"/>
                  </a:lnTo>
                  <a:lnTo>
                    <a:pt x="888981" y="518111"/>
                  </a:lnTo>
                  <a:lnTo>
                    <a:pt x="842722" y="529133"/>
                  </a:lnTo>
                  <a:lnTo>
                    <a:pt x="794978" y="538150"/>
                  </a:lnTo>
                  <a:lnTo>
                    <a:pt x="746044" y="545164"/>
                  </a:lnTo>
                  <a:lnTo>
                    <a:pt x="696220" y="550174"/>
                  </a:lnTo>
                  <a:lnTo>
                    <a:pt x="645801" y="553180"/>
                  </a:lnTo>
                  <a:lnTo>
                    <a:pt x="595086" y="554181"/>
                  </a:lnTo>
                  <a:lnTo>
                    <a:pt x="544370" y="553180"/>
                  </a:lnTo>
                  <a:lnTo>
                    <a:pt x="493951" y="550174"/>
                  </a:lnTo>
                  <a:lnTo>
                    <a:pt x="444127" y="545164"/>
                  </a:lnTo>
                  <a:lnTo>
                    <a:pt x="395194" y="538150"/>
                  </a:lnTo>
                  <a:lnTo>
                    <a:pt x="347449" y="529133"/>
                  </a:lnTo>
                  <a:lnTo>
                    <a:pt x="301190" y="518111"/>
                  </a:lnTo>
                  <a:lnTo>
                    <a:pt x="256713" y="505086"/>
                  </a:lnTo>
                  <a:lnTo>
                    <a:pt x="214316" y="490057"/>
                  </a:lnTo>
                  <a:lnTo>
                    <a:pt x="174296" y="473023"/>
                  </a:lnTo>
                  <a:lnTo>
                    <a:pt x="128054" y="448855"/>
                  </a:lnTo>
                  <a:lnTo>
                    <a:pt x="88926" y="422923"/>
                  </a:lnTo>
                  <a:lnTo>
                    <a:pt x="56913" y="395521"/>
                  </a:lnTo>
                  <a:lnTo>
                    <a:pt x="14228" y="337482"/>
                  </a:lnTo>
                  <a:lnTo>
                    <a:pt x="0" y="277091"/>
                  </a:lnTo>
                  <a:lnTo>
                    <a:pt x="3557" y="246748"/>
                  </a:lnTo>
                  <a:lnTo>
                    <a:pt x="32013" y="187239"/>
                  </a:lnTo>
                  <a:lnTo>
                    <a:pt x="88926" y="131258"/>
                  </a:lnTo>
                  <a:lnTo>
                    <a:pt x="128054" y="105326"/>
                  </a:lnTo>
                  <a:lnTo>
                    <a:pt x="174296" y="81158"/>
                  </a:lnTo>
                  <a:lnTo>
                    <a:pt x="214316" y="64124"/>
                  </a:lnTo>
                  <a:lnTo>
                    <a:pt x="256713" y="49095"/>
                  </a:lnTo>
                  <a:lnTo>
                    <a:pt x="301190" y="36070"/>
                  </a:lnTo>
                  <a:lnTo>
                    <a:pt x="347449" y="25048"/>
                  </a:lnTo>
                  <a:lnTo>
                    <a:pt x="395194" y="16031"/>
                  </a:lnTo>
                  <a:lnTo>
                    <a:pt x="444127" y="9017"/>
                  </a:lnTo>
                  <a:lnTo>
                    <a:pt x="493951" y="4007"/>
                  </a:lnTo>
                  <a:lnTo>
                    <a:pt x="544370" y="1001"/>
                  </a:lnTo>
                  <a:lnTo>
                    <a:pt x="595086" y="0"/>
                  </a:lnTo>
                  <a:lnTo>
                    <a:pt x="645801" y="1001"/>
                  </a:lnTo>
                  <a:lnTo>
                    <a:pt x="696220" y="4007"/>
                  </a:lnTo>
                  <a:lnTo>
                    <a:pt x="746044" y="9017"/>
                  </a:lnTo>
                  <a:lnTo>
                    <a:pt x="794978" y="16031"/>
                  </a:lnTo>
                  <a:lnTo>
                    <a:pt x="842722" y="25048"/>
                  </a:lnTo>
                  <a:lnTo>
                    <a:pt x="888981" y="36070"/>
                  </a:lnTo>
                  <a:lnTo>
                    <a:pt x="933458" y="49095"/>
                  </a:lnTo>
                  <a:lnTo>
                    <a:pt x="975855" y="64124"/>
                  </a:lnTo>
                  <a:lnTo>
                    <a:pt x="1015875" y="81158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77828" y="4551217"/>
              <a:ext cx="1190625" cy="554355"/>
            </a:xfrm>
            <a:custGeom>
              <a:avLst/>
              <a:gdLst/>
              <a:ahLst/>
              <a:cxnLst/>
              <a:rect l="l" t="t" r="r" b="b"/>
              <a:pathLst>
                <a:path w="1190625" h="554354">
                  <a:moveTo>
                    <a:pt x="1015875" y="81158"/>
                  </a:moveTo>
                  <a:lnTo>
                    <a:pt x="1062117" y="105326"/>
                  </a:lnTo>
                  <a:lnTo>
                    <a:pt x="1101245" y="131258"/>
                  </a:lnTo>
                  <a:lnTo>
                    <a:pt x="1133258" y="158660"/>
                  </a:lnTo>
                  <a:lnTo>
                    <a:pt x="1175943" y="216699"/>
                  </a:lnTo>
                  <a:lnTo>
                    <a:pt x="1190172" y="277091"/>
                  </a:lnTo>
                  <a:lnTo>
                    <a:pt x="1186614" y="307433"/>
                  </a:lnTo>
                  <a:lnTo>
                    <a:pt x="1158158" y="366942"/>
                  </a:lnTo>
                  <a:lnTo>
                    <a:pt x="1101245" y="422923"/>
                  </a:lnTo>
                  <a:lnTo>
                    <a:pt x="1062117" y="448855"/>
                  </a:lnTo>
                  <a:lnTo>
                    <a:pt x="1015875" y="473023"/>
                  </a:lnTo>
                  <a:lnTo>
                    <a:pt x="975855" y="490057"/>
                  </a:lnTo>
                  <a:lnTo>
                    <a:pt x="933458" y="505086"/>
                  </a:lnTo>
                  <a:lnTo>
                    <a:pt x="888981" y="518111"/>
                  </a:lnTo>
                  <a:lnTo>
                    <a:pt x="842722" y="529133"/>
                  </a:lnTo>
                  <a:lnTo>
                    <a:pt x="794978" y="538150"/>
                  </a:lnTo>
                  <a:lnTo>
                    <a:pt x="746044" y="545164"/>
                  </a:lnTo>
                  <a:lnTo>
                    <a:pt x="696220" y="550174"/>
                  </a:lnTo>
                  <a:lnTo>
                    <a:pt x="645801" y="553180"/>
                  </a:lnTo>
                  <a:lnTo>
                    <a:pt x="595086" y="554181"/>
                  </a:lnTo>
                  <a:lnTo>
                    <a:pt x="544370" y="553180"/>
                  </a:lnTo>
                  <a:lnTo>
                    <a:pt x="493951" y="550174"/>
                  </a:lnTo>
                  <a:lnTo>
                    <a:pt x="444127" y="545164"/>
                  </a:lnTo>
                  <a:lnTo>
                    <a:pt x="395194" y="538150"/>
                  </a:lnTo>
                  <a:lnTo>
                    <a:pt x="347449" y="529133"/>
                  </a:lnTo>
                  <a:lnTo>
                    <a:pt x="301190" y="518111"/>
                  </a:lnTo>
                  <a:lnTo>
                    <a:pt x="256713" y="505086"/>
                  </a:lnTo>
                  <a:lnTo>
                    <a:pt x="214316" y="490057"/>
                  </a:lnTo>
                  <a:lnTo>
                    <a:pt x="174296" y="473023"/>
                  </a:lnTo>
                  <a:lnTo>
                    <a:pt x="128054" y="448855"/>
                  </a:lnTo>
                  <a:lnTo>
                    <a:pt x="88926" y="422923"/>
                  </a:lnTo>
                  <a:lnTo>
                    <a:pt x="56913" y="395521"/>
                  </a:lnTo>
                  <a:lnTo>
                    <a:pt x="14228" y="337482"/>
                  </a:lnTo>
                  <a:lnTo>
                    <a:pt x="0" y="277091"/>
                  </a:lnTo>
                  <a:lnTo>
                    <a:pt x="3557" y="246748"/>
                  </a:lnTo>
                  <a:lnTo>
                    <a:pt x="32013" y="187239"/>
                  </a:lnTo>
                  <a:lnTo>
                    <a:pt x="88926" y="131258"/>
                  </a:lnTo>
                  <a:lnTo>
                    <a:pt x="128054" y="105326"/>
                  </a:lnTo>
                  <a:lnTo>
                    <a:pt x="174296" y="81158"/>
                  </a:lnTo>
                  <a:lnTo>
                    <a:pt x="214316" y="64124"/>
                  </a:lnTo>
                  <a:lnTo>
                    <a:pt x="256713" y="49095"/>
                  </a:lnTo>
                  <a:lnTo>
                    <a:pt x="301190" y="36070"/>
                  </a:lnTo>
                  <a:lnTo>
                    <a:pt x="347449" y="25048"/>
                  </a:lnTo>
                  <a:lnTo>
                    <a:pt x="395194" y="16031"/>
                  </a:lnTo>
                  <a:lnTo>
                    <a:pt x="444127" y="9017"/>
                  </a:lnTo>
                  <a:lnTo>
                    <a:pt x="493951" y="4007"/>
                  </a:lnTo>
                  <a:lnTo>
                    <a:pt x="544370" y="1001"/>
                  </a:lnTo>
                  <a:lnTo>
                    <a:pt x="595086" y="0"/>
                  </a:lnTo>
                  <a:lnTo>
                    <a:pt x="645801" y="1001"/>
                  </a:lnTo>
                  <a:lnTo>
                    <a:pt x="696220" y="4007"/>
                  </a:lnTo>
                  <a:lnTo>
                    <a:pt x="746044" y="9017"/>
                  </a:lnTo>
                  <a:lnTo>
                    <a:pt x="794978" y="16031"/>
                  </a:lnTo>
                  <a:lnTo>
                    <a:pt x="842722" y="25048"/>
                  </a:lnTo>
                  <a:lnTo>
                    <a:pt x="888981" y="36070"/>
                  </a:lnTo>
                  <a:lnTo>
                    <a:pt x="933458" y="49095"/>
                  </a:lnTo>
                  <a:lnTo>
                    <a:pt x="975855" y="64124"/>
                  </a:lnTo>
                  <a:lnTo>
                    <a:pt x="1015875" y="81158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43799" y="4551217"/>
              <a:ext cx="1190625" cy="554355"/>
            </a:xfrm>
            <a:custGeom>
              <a:avLst/>
              <a:gdLst/>
              <a:ahLst/>
              <a:cxnLst/>
              <a:rect l="l" t="t" r="r" b="b"/>
              <a:pathLst>
                <a:path w="1190625" h="554354">
                  <a:moveTo>
                    <a:pt x="1015875" y="81158"/>
                  </a:moveTo>
                  <a:lnTo>
                    <a:pt x="1062117" y="105326"/>
                  </a:lnTo>
                  <a:lnTo>
                    <a:pt x="1101245" y="131258"/>
                  </a:lnTo>
                  <a:lnTo>
                    <a:pt x="1133258" y="158660"/>
                  </a:lnTo>
                  <a:lnTo>
                    <a:pt x="1175943" y="216699"/>
                  </a:lnTo>
                  <a:lnTo>
                    <a:pt x="1190172" y="277091"/>
                  </a:lnTo>
                  <a:lnTo>
                    <a:pt x="1186614" y="307433"/>
                  </a:lnTo>
                  <a:lnTo>
                    <a:pt x="1158158" y="366942"/>
                  </a:lnTo>
                  <a:lnTo>
                    <a:pt x="1101245" y="422923"/>
                  </a:lnTo>
                  <a:lnTo>
                    <a:pt x="1062117" y="448855"/>
                  </a:lnTo>
                  <a:lnTo>
                    <a:pt x="1015875" y="473023"/>
                  </a:lnTo>
                  <a:lnTo>
                    <a:pt x="975855" y="490057"/>
                  </a:lnTo>
                  <a:lnTo>
                    <a:pt x="933458" y="505086"/>
                  </a:lnTo>
                  <a:lnTo>
                    <a:pt x="888981" y="518111"/>
                  </a:lnTo>
                  <a:lnTo>
                    <a:pt x="842722" y="529133"/>
                  </a:lnTo>
                  <a:lnTo>
                    <a:pt x="794978" y="538150"/>
                  </a:lnTo>
                  <a:lnTo>
                    <a:pt x="746044" y="545164"/>
                  </a:lnTo>
                  <a:lnTo>
                    <a:pt x="696220" y="550174"/>
                  </a:lnTo>
                  <a:lnTo>
                    <a:pt x="645801" y="553180"/>
                  </a:lnTo>
                  <a:lnTo>
                    <a:pt x="595086" y="554181"/>
                  </a:lnTo>
                  <a:lnTo>
                    <a:pt x="544370" y="553180"/>
                  </a:lnTo>
                  <a:lnTo>
                    <a:pt x="493951" y="550174"/>
                  </a:lnTo>
                  <a:lnTo>
                    <a:pt x="444127" y="545164"/>
                  </a:lnTo>
                  <a:lnTo>
                    <a:pt x="395194" y="538150"/>
                  </a:lnTo>
                  <a:lnTo>
                    <a:pt x="347449" y="529133"/>
                  </a:lnTo>
                  <a:lnTo>
                    <a:pt x="301190" y="518111"/>
                  </a:lnTo>
                  <a:lnTo>
                    <a:pt x="256713" y="505086"/>
                  </a:lnTo>
                  <a:lnTo>
                    <a:pt x="214316" y="490057"/>
                  </a:lnTo>
                  <a:lnTo>
                    <a:pt x="174296" y="473023"/>
                  </a:lnTo>
                  <a:lnTo>
                    <a:pt x="128054" y="448855"/>
                  </a:lnTo>
                  <a:lnTo>
                    <a:pt x="88926" y="422923"/>
                  </a:lnTo>
                  <a:lnTo>
                    <a:pt x="56913" y="395521"/>
                  </a:lnTo>
                  <a:lnTo>
                    <a:pt x="14228" y="337482"/>
                  </a:lnTo>
                  <a:lnTo>
                    <a:pt x="0" y="277091"/>
                  </a:lnTo>
                  <a:lnTo>
                    <a:pt x="3557" y="246748"/>
                  </a:lnTo>
                  <a:lnTo>
                    <a:pt x="32013" y="187239"/>
                  </a:lnTo>
                  <a:lnTo>
                    <a:pt x="88926" y="131258"/>
                  </a:lnTo>
                  <a:lnTo>
                    <a:pt x="128054" y="105326"/>
                  </a:lnTo>
                  <a:lnTo>
                    <a:pt x="174296" y="81158"/>
                  </a:lnTo>
                  <a:lnTo>
                    <a:pt x="214316" y="64124"/>
                  </a:lnTo>
                  <a:lnTo>
                    <a:pt x="256713" y="49095"/>
                  </a:lnTo>
                  <a:lnTo>
                    <a:pt x="301190" y="36070"/>
                  </a:lnTo>
                  <a:lnTo>
                    <a:pt x="347449" y="25048"/>
                  </a:lnTo>
                  <a:lnTo>
                    <a:pt x="395194" y="16031"/>
                  </a:lnTo>
                  <a:lnTo>
                    <a:pt x="444127" y="9017"/>
                  </a:lnTo>
                  <a:lnTo>
                    <a:pt x="493951" y="4007"/>
                  </a:lnTo>
                  <a:lnTo>
                    <a:pt x="544370" y="1001"/>
                  </a:lnTo>
                  <a:lnTo>
                    <a:pt x="595086" y="0"/>
                  </a:lnTo>
                  <a:lnTo>
                    <a:pt x="645801" y="1001"/>
                  </a:lnTo>
                  <a:lnTo>
                    <a:pt x="696220" y="4007"/>
                  </a:lnTo>
                  <a:lnTo>
                    <a:pt x="746044" y="9017"/>
                  </a:lnTo>
                  <a:lnTo>
                    <a:pt x="794978" y="16031"/>
                  </a:lnTo>
                  <a:lnTo>
                    <a:pt x="842722" y="25048"/>
                  </a:lnTo>
                  <a:lnTo>
                    <a:pt x="888981" y="36070"/>
                  </a:lnTo>
                  <a:lnTo>
                    <a:pt x="933458" y="49095"/>
                  </a:lnTo>
                  <a:lnTo>
                    <a:pt x="975855" y="64124"/>
                  </a:lnTo>
                  <a:lnTo>
                    <a:pt x="1015875" y="81158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09749" y="4131348"/>
              <a:ext cx="1717039" cy="703580"/>
            </a:xfrm>
            <a:custGeom>
              <a:avLst/>
              <a:gdLst/>
              <a:ahLst/>
              <a:cxnLst/>
              <a:rect l="l" t="t" r="r" b="b"/>
              <a:pathLst>
                <a:path w="1717040" h="703579">
                  <a:moveTo>
                    <a:pt x="1268082" y="693724"/>
                  </a:moveTo>
                  <a:lnTo>
                    <a:pt x="524217" y="692289"/>
                  </a:lnTo>
                  <a:lnTo>
                    <a:pt x="524205" y="701649"/>
                  </a:lnTo>
                  <a:lnTo>
                    <a:pt x="1268056" y="703084"/>
                  </a:lnTo>
                  <a:lnTo>
                    <a:pt x="1268082" y="693724"/>
                  </a:lnTo>
                  <a:close/>
                </a:path>
                <a:path w="1717040" h="703579">
                  <a:moveTo>
                    <a:pt x="1716506" y="415709"/>
                  </a:moveTo>
                  <a:lnTo>
                    <a:pt x="898258" y="63"/>
                  </a:lnTo>
                  <a:lnTo>
                    <a:pt x="896950" y="2654"/>
                  </a:lnTo>
                  <a:lnTo>
                    <a:pt x="895718" y="0"/>
                  </a:lnTo>
                  <a:lnTo>
                    <a:pt x="0" y="415632"/>
                  </a:lnTo>
                  <a:lnTo>
                    <a:pt x="3937" y="424116"/>
                  </a:lnTo>
                  <a:lnTo>
                    <a:pt x="896785" y="9829"/>
                  </a:lnTo>
                  <a:lnTo>
                    <a:pt x="1712264" y="424053"/>
                  </a:lnTo>
                  <a:lnTo>
                    <a:pt x="1716506" y="4157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7691437" y="4719637"/>
            <a:ext cx="238125" cy="238125"/>
            <a:chOff x="7691437" y="4719637"/>
            <a:chExt cx="238125" cy="238125"/>
          </a:xfrm>
        </p:grpSpPr>
        <p:sp>
          <p:nvSpPr>
            <p:cNvPr id="30" name="object 30"/>
            <p:cNvSpPr/>
            <p:nvPr/>
          </p:nvSpPr>
          <p:spPr>
            <a:xfrm>
              <a:off x="7696200" y="4724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96200" y="4724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9672637" y="4719637"/>
            <a:ext cx="238125" cy="238125"/>
            <a:chOff x="9672637" y="4719637"/>
            <a:chExt cx="238125" cy="238125"/>
          </a:xfrm>
        </p:grpSpPr>
        <p:sp>
          <p:nvSpPr>
            <p:cNvPr id="33" name="object 33"/>
            <p:cNvSpPr/>
            <p:nvPr/>
          </p:nvSpPr>
          <p:spPr>
            <a:xfrm>
              <a:off x="9677400" y="4724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677400" y="4724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8682037" y="3729037"/>
            <a:ext cx="238125" cy="238125"/>
            <a:chOff x="8682037" y="3729037"/>
            <a:chExt cx="238125" cy="238125"/>
          </a:xfrm>
        </p:grpSpPr>
        <p:sp>
          <p:nvSpPr>
            <p:cNvPr id="36" name="object 36"/>
            <p:cNvSpPr/>
            <p:nvPr/>
          </p:nvSpPr>
          <p:spPr>
            <a:xfrm>
              <a:off x="8686800" y="37338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86800" y="37338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9291637" y="3729037"/>
            <a:ext cx="238125" cy="238125"/>
            <a:chOff x="9291637" y="3729037"/>
            <a:chExt cx="238125" cy="238125"/>
          </a:xfrm>
        </p:grpSpPr>
        <p:sp>
          <p:nvSpPr>
            <p:cNvPr id="39" name="object 39"/>
            <p:cNvSpPr/>
            <p:nvPr/>
          </p:nvSpPr>
          <p:spPr>
            <a:xfrm>
              <a:off x="9296400" y="37338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296400" y="37338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8301037" y="4719637"/>
            <a:ext cx="238125" cy="238125"/>
            <a:chOff x="8301037" y="4719637"/>
            <a:chExt cx="238125" cy="238125"/>
          </a:xfrm>
        </p:grpSpPr>
        <p:sp>
          <p:nvSpPr>
            <p:cNvPr id="42" name="object 42"/>
            <p:cNvSpPr/>
            <p:nvPr/>
          </p:nvSpPr>
          <p:spPr>
            <a:xfrm>
              <a:off x="8305800" y="4724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305800" y="4724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10282237" y="4719637"/>
            <a:ext cx="238125" cy="238125"/>
            <a:chOff x="10282237" y="4719637"/>
            <a:chExt cx="238125" cy="238125"/>
          </a:xfrm>
        </p:grpSpPr>
        <p:sp>
          <p:nvSpPr>
            <p:cNvPr id="45" name="object 45"/>
            <p:cNvSpPr/>
            <p:nvPr/>
          </p:nvSpPr>
          <p:spPr>
            <a:xfrm>
              <a:off x="10287000" y="4724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287000" y="4724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662603" y="5305137"/>
            <a:ext cx="1190625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7310">
              <a:lnSpc>
                <a:spcPct val="1065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What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went </a:t>
            </a:r>
            <a:r>
              <a:rPr sz="1800" i="1" dirty="0">
                <a:latin typeface="Calibri"/>
                <a:cs typeface="Calibri"/>
              </a:rPr>
              <a:t>wrong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here?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412501" y="1449244"/>
            <a:ext cx="1176655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" marR="5080" indent="-161290">
              <a:lnSpc>
                <a:spcPct val="1065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OK.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Multiple solutions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936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Ordering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625" y="1840898"/>
            <a:ext cx="9964853" cy="43976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9973" y="4444998"/>
            <a:ext cx="5148897" cy="22478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545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Ordering:</a:t>
            </a:r>
            <a:r>
              <a:rPr sz="4400" spc="-165" dirty="0"/>
              <a:t> </a:t>
            </a:r>
            <a:r>
              <a:rPr sz="4400" dirty="0"/>
              <a:t>Minimum</a:t>
            </a:r>
            <a:r>
              <a:rPr sz="4400" spc="-160" dirty="0"/>
              <a:t> </a:t>
            </a:r>
            <a:r>
              <a:rPr sz="4400" dirty="0"/>
              <a:t>Remaining</a:t>
            </a:r>
            <a:r>
              <a:rPr sz="4400" spc="-165" dirty="0"/>
              <a:t> </a:t>
            </a:r>
            <a:r>
              <a:rPr sz="4400" spc="-10" dirty="0"/>
              <a:t>Values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39417" y="1209085"/>
            <a:ext cx="8904605" cy="101219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919"/>
              </a:spcBef>
              <a:buFont typeface="Trebuchet MS"/>
              <a:buChar char="▪"/>
              <a:tabLst>
                <a:tab pos="380365" algn="l"/>
              </a:tabLst>
            </a:pP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Variable</a:t>
            </a:r>
            <a:r>
              <a:rPr sz="2800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Ordering:</a:t>
            </a:r>
            <a:r>
              <a:rPr sz="2800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Minimum</a:t>
            </a:r>
            <a:r>
              <a:rPr sz="2800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remaining</a:t>
            </a:r>
            <a:r>
              <a:rPr sz="2800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r>
              <a:rPr sz="2800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(MRV):</a:t>
            </a:r>
            <a:endParaRPr sz="2800">
              <a:latin typeface="Calibri"/>
              <a:cs typeface="Calibri"/>
            </a:endParaRPr>
          </a:p>
          <a:p>
            <a:pPr marL="779780" lvl="1" indent="-285115">
              <a:lnSpc>
                <a:spcPct val="100000"/>
              </a:lnSpc>
              <a:spcBef>
                <a:spcPts val="705"/>
              </a:spcBef>
              <a:buFont typeface="Trebuchet MS"/>
              <a:buChar char="▪"/>
              <a:tabLst>
                <a:tab pos="779780" algn="l"/>
              </a:tabLst>
            </a:pP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fewest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legal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domain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417" y="4449828"/>
            <a:ext cx="6064885" cy="157734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810"/>
              </a:spcBef>
              <a:buFont typeface="Trebuchet MS"/>
              <a:buChar char="▪"/>
              <a:tabLst>
                <a:tab pos="3803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Why</a:t>
            </a:r>
            <a:r>
              <a:rPr sz="28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min</a:t>
            </a:r>
            <a:r>
              <a:rPr sz="28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rather</a:t>
            </a:r>
            <a:r>
              <a:rPr sz="28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than</a:t>
            </a:r>
            <a:r>
              <a:rPr sz="2800" spc="-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Calibri"/>
                <a:cs typeface="Calibri"/>
              </a:rPr>
              <a:t>max?</a:t>
            </a:r>
            <a:endParaRPr sz="2800">
              <a:latin typeface="Calibri"/>
              <a:cs typeface="Calibri"/>
            </a:endParaRPr>
          </a:p>
          <a:p>
            <a:pPr marL="380365" indent="-342265">
              <a:lnSpc>
                <a:spcPct val="100000"/>
              </a:lnSpc>
              <a:spcBef>
                <a:spcPts val="715"/>
              </a:spcBef>
              <a:buFont typeface="Trebuchet MS"/>
              <a:buChar char="▪"/>
              <a:tabLst>
                <a:tab pos="380365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Also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called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“most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constrained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variable”</a:t>
            </a:r>
            <a:endParaRPr sz="2800">
              <a:latin typeface="Calibri"/>
              <a:cs typeface="Calibri"/>
            </a:endParaRPr>
          </a:p>
          <a:p>
            <a:pPr marL="380365" indent="-342265">
              <a:lnSpc>
                <a:spcPct val="100000"/>
              </a:lnSpc>
              <a:spcBef>
                <a:spcPts val="710"/>
              </a:spcBef>
              <a:buFont typeface="Trebuchet MS"/>
              <a:buChar char="▪"/>
              <a:tabLst>
                <a:tab pos="380365" algn="l"/>
              </a:tabLst>
            </a:pP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“Fail-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fast”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ordering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08738" y="2476497"/>
            <a:ext cx="8392795" cy="1701800"/>
            <a:chOff x="2008738" y="2476497"/>
            <a:chExt cx="8392795" cy="17018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8738" y="2747551"/>
              <a:ext cx="8333998" cy="13050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606799" y="2641598"/>
              <a:ext cx="2209800" cy="1524000"/>
            </a:xfrm>
            <a:custGeom>
              <a:avLst/>
              <a:gdLst/>
              <a:ahLst/>
              <a:cxnLst/>
              <a:rect l="l" t="t" r="r" b="b"/>
              <a:pathLst>
                <a:path w="2209800" h="1524000">
                  <a:moveTo>
                    <a:pt x="2209800" y="0"/>
                  </a:moveTo>
                  <a:lnTo>
                    <a:pt x="0" y="0"/>
                  </a:lnTo>
                  <a:lnTo>
                    <a:pt x="0" y="1523999"/>
                  </a:lnTo>
                  <a:lnTo>
                    <a:pt x="2209800" y="1523999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06799" y="2641598"/>
              <a:ext cx="2209800" cy="1524000"/>
            </a:xfrm>
            <a:custGeom>
              <a:avLst/>
              <a:gdLst/>
              <a:ahLst/>
              <a:cxnLst/>
              <a:rect l="l" t="t" r="r" b="b"/>
              <a:pathLst>
                <a:path w="2209800" h="1524000">
                  <a:moveTo>
                    <a:pt x="0" y="0"/>
                  </a:moveTo>
                  <a:lnTo>
                    <a:pt x="2209800" y="0"/>
                  </a:lnTo>
                  <a:lnTo>
                    <a:pt x="22098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16599" y="2565398"/>
              <a:ext cx="2286000" cy="1524000"/>
            </a:xfrm>
            <a:custGeom>
              <a:avLst/>
              <a:gdLst/>
              <a:ahLst/>
              <a:cxnLst/>
              <a:rect l="l" t="t" r="r" b="b"/>
              <a:pathLst>
                <a:path w="2286000" h="1524000">
                  <a:moveTo>
                    <a:pt x="2286000" y="0"/>
                  </a:moveTo>
                  <a:lnTo>
                    <a:pt x="0" y="0"/>
                  </a:lnTo>
                  <a:lnTo>
                    <a:pt x="0" y="1523999"/>
                  </a:lnTo>
                  <a:lnTo>
                    <a:pt x="2286000" y="1523999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6599" y="2565398"/>
              <a:ext cx="2286000" cy="1524000"/>
            </a:xfrm>
            <a:custGeom>
              <a:avLst/>
              <a:gdLst/>
              <a:ahLst/>
              <a:cxnLst/>
              <a:rect l="l" t="t" r="r" b="b"/>
              <a:pathLst>
                <a:path w="2286000" h="1524000">
                  <a:moveTo>
                    <a:pt x="0" y="0"/>
                  </a:moveTo>
                  <a:lnTo>
                    <a:pt x="2286000" y="0"/>
                  </a:lnTo>
                  <a:lnTo>
                    <a:pt x="2286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02599" y="2489197"/>
              <a:ext cx="2286000" cy="1625600"/>
            </a:xfrm>
            <a:custGeom>
              <a:avLst/>
              <a:gdLst/>
              <a:ahLst/>
              <a:cxnLst/>
              <a:rect l="l" t="t" r="r" b="b"/>
              <a:pathLst>
                <a:path w="2286000" h="1625600">
                  <a:moveTo>
                    <a:pt x="2286000" y="0"/>
                  </a:moveTo>
                  <a:lnTo>
                    <a:pt x="0" y="0"/>
                  </a:lnTo>
                  <a:lnTo>
                    <a:pt x="0" y="1625601"/>
                  </a:lnTo>
                  <a:lnTo>
                    <a:pt x="2286000" y="1625601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02599" y="2489197"/>
              <a:ext cx="2286000" cy="1625600"/>
            </a:xfrm>
            <a:custGeom>
              <a:avLst/>
              <a:gdLst/>
              <a:ahLst/>
              <a:cxnLst/>
              <a:rect l="l" t="t" r="r" b="b"/>
              <a:pathLst>
                <a:path w="2286000" h="1625600">
                  <a:moveTo>
                    <a:pt x="0" y="0"/>
                  </a:moveTo>
                  <a:lnTo>
                    <a:pt x="2286000" y="0"/>
                  </a:lnTo>
                  <a:lnTo>
                    <a:pt x="2286000" y="1625601"/>
                  </a:lnTo>
                  <a:lnTo>
                    <a:pt x="0" y="162560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6647" y="4648200"/>
            <a:ext cx="4671363" cy="20446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614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Ordering:</a:t>
            </a:r>
            <a:r>
              <a:rPr sz="4400" spc="-150" dirty="0"/>
              <a:t> </a:t>
            </a:r>
            <a:r>
              <a:rPr sz="4400" dirty="0"/>
              <a:t>Least</a:t>
            </a:r>
            <a:r>
              <a:rPr sz="4400" spc="-145" dirty="0"/>
              <a:t> </a:t>
            </a:r>
            <a:r>
              <a:rPr sz="4400" spc="-20" dirty="0"/>
              <a:t>Constraining</a:t>
            </a:r>
            <a:r>
              <a:rPr sz="4400" spc="-150" dirty="0"/>
              <a:t> </a:t>
            </a:r>
            <a:r>
              <a:rPr sz="4400" spc="-10" dirty="0"/>
              <a:t>Value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39417" y="1347022"/>
            <a:ext cx="6939280" cy="45789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75285" indent="-311785">
              <a:lnSpc>
                <a:spcPct val="100000"/>
              </a:lnSpc>
              <a:spcBef>
                <a:spcPts val="505"/>
              </a:spcBef>
              <a:buFont typeface="Trebuchet MS"/>
              <a:buChar char="▪"/>
              <a:tabLst>
                <a:tab pos="375285" algn="l"/>
              </a:tabLst>
            </a:pPr>
            <a:r>
              <a:rPr sz="2550" spc="-20" dirty="0">
                <a:solidFill>
                  <a:srgbClr val="333399"/>
                </a:solidFill>
                <a:latin typeface="Calibri"/>
                <a:cs typeface="Calibri"/>
              </a:rPr>
              <a:t>Value</a:t>
            </a:r>
            <a:r>
              <a:rPr sz="255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Ordering:</a:t>
            </a:r>
            <a:r>
              <a:rPr sz="255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Least</a:t>
            </a:r>
            <a:r>
              <a:rPr sz="255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333399"/>
                </a:solidFill>
                <a:latin typeface="Calibri"/>
                <a:cs typeface="Calibri"/>
              </a:rPr>
              <a:t>Constraining</a:t>
            </a:r>
            <a:r>
              <a:rPr sz="255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333399"/>
                </a:solidFill>
                <a:latin typeface="Calibri"/>
                <a:cs typeface="Calibri"/>
              </a:rPr>
              <a:t>Value</a:t>
            </a:r>
            <a:endParaRPr sz="2550">
              <a:latin typeface="Calibri"/>
              <a:cs typeface="Calibri"/>
            </a:endParaRPr>
          </a:p>
          <a:p>
            <a:pPr marL="779145" marR="1295400" lvl="1" indent="-259079">
              <a:lnSpc>
                <a:spcPts val="2390"/>
              </a:lnSpc>
              <a:spcBef>
                <a:spcPts val="615"/>
              </a:spcBef>
              <a:buFont typeface="Trebuchet MS"/>
              <a:buChar char="▪"/>
              <a:tabLst>
                <a:tab pos="780415" algn="l"/>
              </a:tabLst>
            </a:pPr>
            <a:r>
              <a:rPr sz="2150" dirty="0">
                <a:latin typeface="Calibri"/>
                <a:cs typeface="Calibri"/>
              </a:rPr>
              <a:t>Given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choice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variable,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choose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i="1" spc="-10" dirty="0">
                <a:latin typeface="Calibri"/>
                <a:cs typeface="Calibri"/>
              </a:rPr>
              <a:t>least 	</a:t>
            </a:r>
            <a:r>
              <a:rPr sz="2150" i="1" dirty="0">
                <a:latin typeface="Calibri"/>
                <a:cs typeface="Calibri"/>
              </a:rPr>
              <a:t>constraining</a:t>
            </a:r>
            <a:r>
              <a:rPr sz="2150" i="1" spc="114" dirty="0">
                <a:latin typeface="Calibri"/>
                <a:cs typeface="Calibri"/>
              </a:rPr>
              <a:t> </a:t>
            </a:r>
            <a:r>
              <a:rPr sz="2150" i="1" spc="-20" dirty="0">
                <a:latin typeface="Calibri"/>
                <a:cs typeface="Calibri"/>
              </a:rPr>
              <a:t>value</a:t>
            </a:r>
            <a:endParaRPr sz="2150">
              <a:latin typeface="Calibri"/>
              <a:cs typeface="Calibri"/>
            </a:endParaRPr>
          </a:p>
          <a:p>
            <a:pPr marL="779145" marR="481965" lvl="1" indent="-259079">
              <a:lnSpc>
                <a:spcPts val="2390"/>
              </a:lnSpc>
              <a:spcBef>
                <a:spcPts val="525"/>
              </a:spcBef>
              <a:buFont typeface="Trebuchet MS"/>
              <a:buChar char="▪"/>
              <a:tabLst>
                <a:tab pos="780415" algn="l"/>
              </a:tabLst>
            </a:pPr>
            <a:r>
              <a:rPr sz="2150" dirty="0">
                <a:latin typeface="Calibri"/>
                <a:cs typeface="Calibri"/>
              </a:rPr>
              <a:t>I.e.,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one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that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rules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out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fewest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values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the 	</a:t>
            </a:r>
            <a:r>
              <a:rPr sz="2150" dirty="0">
                <a:latin typeface="Calibri"/>
                <a:cs typeface="Calibri"/>
              </a:rPr>
              <a:t>remaining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variables</a:t>
            </a:r>
            <a:endParaRPr sz="2150">
              <a:latin typeface="Calibri"/>
              <a:cs typeface="Calibri"/>
            </a:endParaRPr>
          </a:p>
          <a:p>
            <a:pPr marL="779145" marR="55880" lvl="1" indent="-259079">
              <a:lnSpc>
                <a:spcPts val="2390"/>
              </a:lnSpc>
              <a:spcBef>
                <a:spcPts val="520"/>
              </a:spcBef>
              <a:buFont typeface="Trebuchet MS"/>
              <a:buChar char="▪"/>
              <a:tabLst>
                <a:tab pos="780415" algn="l"/>
              </a:tabLst>
            </a:pPr>
            <a:r>
              <a:rPr sz="2150" dirty="0">
                <a:latin typeface="Calibri"/>
                <a:cs typeface="Calibri"/>
              </a:rPr>
              <a:t>Note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that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it may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take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some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computation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 </a:t>
            </a:r>
            <a:r>
              <a:rPr sz="2150" spc="-10" dirty="0">
                <a:latin typeface="Calibri"/>
                <a:cs typeface="Calibri"/>
              </a:rPr>
              <a:t>determine 	</a:t>
            </a:r>
            <a:r>
              <a:rPr sz="2150" dirty="0">
                <a:latin typeface="Calibri"/>
                <a:cs typeface="Calibri"/>
              </a:rPr>
              <a:t>this!</a:t>
            </a:r>
            <a:r>
              <a:rPr sz="2150" spc="45" dirty="0">
                <a:latin typeface="Calibri"/>
                <a:cs typeface="Calibri"/>
              </a:rPr>
              <a:t>  </a:t>
            </a:r>
            <a:r>
              <a:rPr sz="2150" dirty="0">
                <a:latin typeface="Calibri"/>
                <a:cs typeface="Calibri"/>
              </a:rPr>
              <a:t>(E.g.,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rerunning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filtering)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70"/>
              </a:spcBef>
              <a:buFont typeface="Trebuchet MS"/>
              <a:buChar char="▪"/>
            </a:pPr>
            <a:endParaRPr sz="2150">
              <a:latin typeface="Calibri"/>
              <a:cs typeface="Calibri"/>
            </a:endParaRPr>
          </a:p>
          <a:p>
            <a:pPr marL="375285" indent="-311785">
              <a:lnSpc>
                <a:spcPct val="100000"/>
              </a:lnSpc>
              <a:buFont typeface="Trebuchet MS"/>
              <a:buChar char="▪"/>
              <a:tabLst>
                <a:tab pos="375285" algn="l"/>
              </a:tabLst>
            </a:pP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Why</a:t>
            </a:r>
            <a:r>
              <a:rPr sz="255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least</a:t>
            </a:r>
            <a:r>
              <a:rPr sz="255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rather</a:t>
            </a:r>
            <a:r>
              <a:rPr sz="255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than</a:t>
            </a:r>
            <a:r>
              <a:rPr sz="255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333399"/>
                </a:solidFill>
                <a:latin typeface="Calibri"/>
                <a:cs typeface="Calibri"/>
              </a:rPr>
              <a:t>most?</a:t>
            </a:r>
            <a:endParaRPr sz="2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333399"/>
              </a:buClr>
              <a:buFont typeface="Trebuchet MS"/>
              <a:buChar char="▪"/>
            </a:pPr>
            <a:endParaRPr sz="2550">
              <a:latin typeface="Calibri"/>
              <a:cs typeface="Calibri"/>
            </a:endParaRPr>
          </a:p>
          <a:p>
            <a:pPr marL="375285" marR="1479550" indent="-312420">
              <a:lnSpc>
                <a:spcPts val="3030"/>
              </a:lnSpc>
              <a:spcBef>
                <a:spcPts val="5"/>
              </a:spcBef>
              <a:buFont typeface="Trebuchet MS"/>
              <a:buChar char="▪"/>
              <a:tabLst>
                <a:tab pos="405765" algn="l"/>
              </a:tabLst>
            </a:pP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Combining</a:t>
            </a:r>
            <a:r>
              <a:rPr sz="255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these</a:t>
            </a:r>
            <a:r>
              <a:rPr sz="255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ordering</a:t>
            </a:r>
            <a:r>
              <a:rPr sz="255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ideas</a:t>
            </a:r>
            <a:r>
              <a:rPr sz="255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333399"/>
                </a:solidFill>
                <a:latin typeface="Calibri"/>
                <a:cs typeface="Calibri"/>
              </a:rPr>
              <a:t>makes 	</a:t>
            </a: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1000</a:t>
            </a:r>
            <a:r>
              <a:rPr sz="255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33399"/>
                </a:solidFill>
                <a:latin typeface="Calibri"/>
                <a:cs typeface="Calibri"/>
              </a:rPr>
              <a:t>queens</a:t>
            </a:r>
            <a:r>
              <a:rPr sz="255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333399"/>
                </a:solidFill>
                <a:latin typeface="Calibri"/>
                <a:cs typeface="Calibri"/>
              </a:rPr>
              <a:t>feasible</a:t>
            </a:r>
            <a:endParaRPr sz="25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5859" y="1520587"/>
            <a:ext cx="3558643" cy="23802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Words>1360</Words>
  <Application>Microsoft Office PowerPoint</Application>
  <PresentationFormat>Widescreen</PresentationFormat>
  <Paragraphs>272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Symbol</vt:lpstr>
      <vt:lpstr>Times New Roman</vt:lpstr>
      <vt:lpstr>Trebuchet MS</vt:lpstr>
      <vt:lpstr>Office Theme</vt:lpstr>
      <vt:lpstr>CS860: Artificial Intelligence</vt:lpstr>
      <vt:lpstr>What is Search For?</vt:lpstr>
      <vt:lpstr>Constraint Satisfaction Problems</vt:lpstr>
      <vt:lpstr>Constraint Satisfaction Problems</vt:lpstr>
      <vt:lpstr>CSP Examples</vt:lpstr>
      <vt:lpstr>Example: Map Coloring</vt:lpstr>
      <vt:lpstr>Example: N-Queens</vt:lpstr>
      <vt:lpstr>Example: N-Queens</vt:lpstr>
      <vt:lpstr>Constraint Graphs</vt:lpstr>
      <vt:lpstr>Constraint Graphs</vt:lpstr>
      <vt:lpstr>Example: Cryptarithmetic</vt:lpstr>
      <vt:lpstr>Example: Sudoku</vt:lpstr>
      <vt:lpstr>Varieties of CSPs</vt:lpstr>
      <vt:lpstr>Varieties of Constraints</vt:lpstr>
      <vt:lpstr>Real-World CSPs</vt:lpstr>
      <vt:lpstr>Solving CSPs</vt:lpstr>
      <vt:lpstr>Standard Search Formulation</vt:lpstr>
      <vt:lpstr>Search Methods</vt:lpstr>
      <vt:lpstr>Search Methods</vt:lpstr>
      <vt:lpstr>Backtracking Search</vt:lpstr>
      <vt:lpstr>Backtracking Search</vt:lpstr>
      <vt:lpstr>Backtracking Example</vt:lpstr>
      <vt:lpstr>Backtracking Search</vt:lpstr>
      <vt:lpstr>Improving Backtracking</vt:lpstr>
      <vt:lpstr>Filtering: Forward Checking</vt:lpstr>
      <vt:lpstr>Filtering: Constraint Propagation</vt:lpstr>
      <vt:lpstr>Consistency of A Single Arc</vt:lpstr>
      <vt:lpstr>Arc Consistency of an Entire CSP</vt:lpstr>
      <vt:lpstr>Enforcing Arc Consistency in a CSP</vt:lpstr>
      <vt:lpstr>Limitations of Arc Consistency</vt:lpstr>
      <vt:lpstr>Ordering</vt:lpstr>
      <vt:lpstr>Ordering: Minimum Remaining Values</vt:lpstr>
      <vt:lpstr>Ordering: Least Constraining 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lecture5</dc:title>
  <cp:lastModifiedBy>Dr Soyiba</cp:lastModifiedBy>
  <cp:revision>2</cp:revision>
  <dcterms:created xsi:type="dcterms:W3CDTF">2025-03-09T06:37:46Z</dcterms:created>
  <dcterms:modified xsi:type="dcterms:W3CDTF">2025-03-12T09:57:40Z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2023-02-22T00:00:00Z</vt:filetime>
  </property>
  <property fmtid="{D5CDD505-2E9C-101B-9397-08002B2CF9AE}" pid="3" name="Creator">
    <vt:lpwstr>Keynote</vt:lpwstr>
  </property>
  <property fmtid="{D5CDD505-2E9C-101B-9397-08002B2CF9AE}" pid="4" name="LastSaved">
    <vt:filetime>2025-03-09T00:00:00Z</vt:filetime>
  </property>
  <property fmtid="{D5CDD505-2E9C-101B-9397-08002B2CF9AE}" pid="5" name="Producer">
    <vt:lpwstr>macOS Version 13.2.1 (Build 22D68) Quartz PDFContext</vt:lpwstr>
  </property>
</Properties>
</file>