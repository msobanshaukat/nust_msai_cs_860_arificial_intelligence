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98" r:id="rId4"/>
    <p:sldId id="299" r:id="rId5"/>
    <p:sldId id="362" r:id="rId6"/>
    <p:sldId id="300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01" r:id="rId19"/>
    <p:sldId id="374" r:id="rId20"/>
    <p:sldId id="375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76" r:id="rId29"/>
    <p:sldId id="377" r:id="rId30"/>
    <p:sldId id="309" r:id="rId31"/>
    <p:sldId id="378" r:id="rId32"/>
    <p:sldId id="311" r:id="rId33"/>
    <p:sldId id="312" r:id="rId34"/>
    <p:sldId id="31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>
        <a:solidFill>
          <a:schemeClr val="accent1"/>
        </a:solidFill>
      </dgm:spPr>
      <dgm:t>
        <a:bodyPr/>
        <a:lstStyle/>
        <a:p>
          <a:r>
            <a:rPr lang="en-MY" dirty="0"/>
            <a:t>Agents Getting along with Other Agents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0BCD7933-B759-4BB3-8FB0-6E6358EC1160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8B4BBB23-3B8A-474A-9915-486FAC5CD8EF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3490550-8ADD-4F10-91A3-96A2D3FC19C1}" type="presOf" srcId="{E4486CAB-E34A-4187-8DDB-1BB931FFE076}" destId="{8B4BBB23-3B8A-474A-9915-486FAC5CD8EF}" srcOrd="0" destOrd="0" presId="urn:microsoft.com/office/officeart/2005/8/layout/vList2"/>
    <dgm:cxn modelId="{9F4801C3-DD59-4250-98F3-168B32A27C1E}" type="presOf" srcId="{031E71C0-3436-4535-A25F-77F17F1B27A2}" destId="{0BCD7933-B759-4BB3-8FB0-6E6358EC1160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7901100C-43EA-4939-94E1-1AED5EC91221}" type="presParOf" srcId="{0BCD7933-B759-4BB3-8FB0-6E6358EC1160}" destId="{8B4BBB23-3B8A-474A-9915-486FAC5CD8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Agents Getting Along with Humans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54A99D5-06E2-4F2B-8E38-45297B84B08C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DBBB0BDC-E532-471F-B513-EA09981AE4AE}" type="presOf" srcId="{031E71C0-3436-4535-A25F-77F17F1B27A2}" destId="{1F13C5FA-C02D-4336-8E25-93ADF6DA17C4}" srcOrd="0" destOrd="0" presId="urn:microsoft.com/office/officeart/2005/8/layout/vList2"/>
    <dgm:cxn modelId="{6CC81BD7-0A3A-4985-AD42-E5F12F08418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Games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Types of Games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Deterministic Games with Terminal Utilities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Types of Games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Zero Sum Games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Search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News: Cost -&gt; Utility!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Single Agent Trees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Value of a State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Game Trees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 Max Values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Tic-Tac-Toe Game Tree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Search (Minmax)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Implementation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Implementation (Dispatch)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 err="1"/>
            <a:t>MiniMax</a:t>
          </a:r>
          <a:r>
            <a:rPr lang="en-MY" dirty="0"/>
            <a:t> Example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 err="1"/>
            <a:t>MiniMax</a:t>
          </a:r>
          <a:r>
            <a:rPr lang="en-MY" dirty="0"/>
            <a:t> Efficiency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Properties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Y="242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Resource limits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Game Tress Pruning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Example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1C69F164-24BA-4D80-9313-46C300140887}">
      <dgm:prSet/>
      <dgm:spPr/>
      <dgm:t>
        <a:bodyPr/>
        <a:lstStyle/>
        <a:p>
          <a:r>
            <a:rPr lang="en-MY" b="0" i="0" dirty="0"/>
            <a:t>Alpha-Beta Pruning</a:t>
          </a:r>
        </a:p>
      </dgm:t>
    </dgm:pt>
    <dgm:pt modelId="{B5257C01-4833-4B06-9E79-29529FAD03BA}" type="parTrans" cxnId="{C26F967C-C538-49B0-A504-E693A87011F6}">
      <dgm:prSet/>
      <dgm:spPr/>
      <dgm:t>
        <a:bodyPr/>
        <a:lstStyle/>
        <a:p>
          <a:endParaRPr lang="en-MY"/>
        </a:p>
      </dgm:t>
    </dgm:pt>
    <dgm:pt modelId="{50E8882A-827D-4D00-BD90-A29FF9A6E25E}" type="sibTrans" cxnId="{C26F967C-C538-49B0-A504-E693A87011F6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3F83843E-5834-4AC8-9F69-9812491DA70E}" type="pres">
      <dgm:prSet presAssocID="{1C69F164-24BA-4D80-9313-46C30014088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C26F967C-C538-49B0-A504-E693A87011F6}" srcId="{031E71C0-3436-4535-A25F-77F17F1B27A2}" destId="{1C69F164-24BA-4D80-9313-46C300140887}" srcOrd="0" destOrd="0" parTransId="{B5257C01-4833-4B06-9E79-29529FAD03BA}" sibTransId="{50E8882A-827D-4D00-BD90-A29FF9A6E25E}"/>
    <dgm:cxn modelId="{8F1AF0C2-CF54-483C-8133-257E1BBDA195}" type="presOf" srcId="{1C69F164-24BA-4D80-9313-46C300140887}" destId="{3F83843E-5834-4AC8-9F69-9812491DA70E}" srcOrd="0" destOrd="0" presId="urn:microsoft.com/office/officeart/2005/8/layout/vList2"/>
    <dgm:cxn modelId="{D5E3E15E-781D-4151-9D3E-C79F4AFAC7E4}" type="presParOf" srcId="{1F13C5FA-C02D-4336-8E25-93ADF6DA17C4}" destId="{3F83843E-5834-4AC8-9F69-9812491DA70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/>
            <a:t>Alpha-Beta 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 custLinFactNeighborY="-242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Resource Limits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A076FC0A-1F9D-466A-A45A-3DB34E2F5886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2B25795A-3780-4ACE-A1CC-FF5981871A03}" type="pres">
      <dgm:prSet presAssocID="{A076FC0A-1F9D-466A-A45A-3DB34E2F588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</dgm:ptLst>
  <dgm:cxnLst>
    <dgm:cxn modelId="{C93F8229-87DE-42F1-BEE7-C7E0FCC585A0}" type="presOf" srcId="{A076FC0A-1F9D-466A-A45A-3DB34E2F5886}" destId="{2B25795A-3780-4ACE-A1CC-FF5981871A03}" srcOrd="0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Resource Limits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Depth Matters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Evaluation Functions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Evaluation Functions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Evaluation For Pacman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dirty="0"/>
            <a:t>Why</a:t>
          </a:r>
          <a:r>
            <a:rPr lang="en-MY" baseline="0" dirty="0"/>
            <a:t> Pacman Starves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784A4B-5780-49CF-B371-558035318B21}" type="presOf" srcId="{031E71C0-3436-4535-A25F-77F17F1B27A2}" destId="{1F13C5FA-C02D-4336-8E25-93ADF6DA17C4}" srcOrd="0" destOrd="0" presId="urn:microsoft.com/office/officeart/2005/8/layout/vList2"/>
    <dgm:cxn modelId="{E12597B6-4E70-4F6F-8CEB-E957BF13F8E9}" type="presOf" srcId="{9506064B-B76B-4BBB-8B0C-3D5B7BA4C3BC}" destId="{74493649-37F6-464D-BBA9-F95D79A1A373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FB77EC78-6515-45B6-BEDC-DDECBF9E4B64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 custT="1"/>
      <dgm:spPr/>
      <dgm:t>
        <a:bodyPr/>
        <a:lstStyle/>
        <a:p>
          <a:r>
            <a:rPr lang="en-MY" sz="5400" b="1" dirty="0"/>
            <a:t>Synergies between Evaluation Function and Alpha-Beta?</a:t>
          </a:r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BBB23-3B8A-474A-9915-486FAC5CD8EF}">
      <dsp:nvSpPr>
        <dsp:cNvPr id="0" name=""/>
        <dsp:cNvSpPr/>
      </dsp:nvSpPr>
      <dsp:spPr>
        <a:xfrm>
          <a:off x="0" y="296515"/>
          <a:ext cx="3346964" cy="2854800"/>
        </a:xfrm>
        <a:prstGeom prst="round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000" kern="1200" dirty="0"/>
            <a:t>Agents Getting along with Other Agents</a:t>
          </a:r>
        </a:p>
      </dsp:txBody>
      <dsp:txXfrm>
        <a:off x="139360" y="435875"/>
        <a:ext cx="3068244" cy="2576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15186"/>
          <a:ext cx="10515600" cy="1295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400" kern="1200" dirty="0"/>
            <a:t>Agents Getting Along with Humans</a:t>
          </a:r>
        </a:p>
      </dsp:txBody>
      <dsp:txXfrm>
        <a:off x="63226" y="78412"/>
        <a:ext cx="10389148" cy="11687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Games</a:t>
          </a:r>
        </a:p>
      </dsp:txBody>
      <dsp:txXfrm>
        <a:off x="64397" y="67590"/>
        <a:ext cx="10386806" cy="11903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Types of Games</a:t>
          </a:r>
        </a:p>
      </dsp:txBody>
      <dsp:txXfrm>
        <a:off x="64397" y="64397"/>
        <a:ext cx="10386806" cy="11903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52203"/>
          <a:ext cx="10515600" cy="1055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400" kern="1200" dirty="0"/>
            <a:t>Deterministic Games with Terminal Utilities</a:t>
          </a:r>
        </a:p>
      </dsp:txBody>
      <dsp:txXfrm>
        <a:off x="51517" y="103720"/>
        <a:ext cx="10412566" cy="95230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Types of Games</a:t>
          </a:r>
        </a:p>
      </dsp:txBody>
      <dsp:txXfrm>
        <a:off x="64397" y="64397"/>
        <a:ext cx="10386806" cy="11903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Zero Sum Games</a:t>
          </a:r>
        </a:p>
      </dsp:txBody>
      <dsp:txXfrm>
        <a:off x="64397" y="64397"/>
        <a:ext cx="10386806" cy="11903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Search</a:t>
          </a:r>
        </a:p>
      </dsp:txBody>
      <dsp:txXfrm>
        <a:off x="64397" y="64397"/>
        <a:ext cx="10386806" cy="11903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News: Cost -&gt; Utility!</a:t>
          </a:r>
        </a:p>
      </dsp:txBody>
      <dsp:txXfrm>
        <a:off x="64397" y="64397"/>
        <a:ext cx="10386806" cy="11903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Single Agent Trees</a:t>
          </a:r>
        </a:p>
      </dsp:txBody>
      <dsp:txXfrm>
        <a:off x="64397" y="64397"/>
        <a:ext cx="10386806" cy="11903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Value of a State</a:t>
          </a:r>
        </a:p>
      </dsp:txBody>
      <dsp:txXfrm>
        <a:off x="64397" y="64397"/>
        <a:ext cx="10386806" cy="119038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Game Trees</a:t>
          </a:r>
        </a:p>
      </dsp:txBody>
      <dsp:txXfrm>
        <a:off x="64397" y="64397"/>
        <a:ext cx="10386806" cy="119038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 Max Values</a:t>
          </a:r>
        </a:p>
      </dsp:txBody>
      <dsp:txXfrm>
        <a:off x="64397" y="64397"/>
        <a:ext cx="10386806" cy="119038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Tic-Tac-Toe Game Tree</a:t>
          </a:r>
        </a:p>
      </dsp:txBody>
      <dsp:txXfrm>
        <a:off x="64397" y="64397"/>
        <a:ext cx="10386806" cy="119038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Search (Minmax)</a:t>
          </a:r>
        </a:p>
      </dsp:txBody>
      <dsp:txXfrm>
        <a:off x="64397" y="64397"/>
        <a:ext cx="10386806" cy="119038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Minimax Implementation</a:t>
          </a:r>
        </a:p>
      </dsp:txBody>
      <dsp:txXfrm>
        <a:off x="64397" y="64397"/>
        <a:ext cx="10386806" cy="119038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27178"/>
          <a:ext cx="10515600" cy="12712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300" kern="1200" dirty="0"/>
            <a:t>Minimax Implementation (Dispatch)</a:t>
          </a:r>
        </a:p>
      </dsp:txBody>
      <dsp:txXfrm>
        <a:off x="62055" y="89233"/>
        <a:ext cx="10391490" cy="114709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 err="1"/>
            <a:t>MiniMax</a:t>
          </a:r>
          <a:r>
            <a:rPr lang="en-MY" sz="5500" kern="1200" dirty="0"/>
            <a:t> Example</a:t>
          </a:r>
        </a:p>
      </dsp:txBody>
      <dsp:txXfrm>
        <a:off x="64397" y="67590"/>
        <a:ext cx="10386806" cy="119038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 err="1"/>
            <a:t>MiniMax</a:t>
          </a:r>
          <a:r>
            <a:rPr lang="en-MY" sz="5500" kern="1200" dirty="0"/>
            <a:t> Efficiency</a:t>
          </a:r>
        </a:p>
      </dsp:txBody>
      <dsp:txXfrm>
        <a:off x="64397" y="67590"/>
        <a:ext cx="10386806" cy="119038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6386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Minimax Properties</a:t>
          </a:r>
        </a:p>
      </dsp:txBody>
      <dsp:txXfrm>
        <a:off x="64397" y="70783"/>
        <a:ext cx="10386806" cy="119038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Resource limits</a:t>
          </a:r>
        </a:p>
      </dsp:txBody>
      <dsp:txXfrm>
        <a:off x="64397" y="67590"/>
        <a:ext cx="10386806" cy="119038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Game Tress Pruning</a:t>
          </a:r>
        </a:p>
      </dsp:txBody>
      <dsp:txXfrm>
        <a:off x="64397" y="67590"/>
        <a:ext cx="10386806" cy="119038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Minimax Example</a:t>
          </a:r>
        </a:p>
      </dsp:txBody>
      <dsp:txXfrm>
        <a:off x="64397" y="67590"/>
        <a:ext cx="10386806" cy="1190381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3843E-5834-4AC8-9F69-9812491DA70E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0" i="0" kern="1200" dirty="0"/>
            <a:t>Alpha-Beta Pruning</a:t>
          </a:r>
        </a:p>
      </dsp:txBody>
      <dsp:txXfrm>
        <a:off x="64397" y="67590"/>
        <a:ext cx="10386806" cy="1190381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1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/>
            <a:t>Alpha-Beta </a:t>
          </a:r>
          <a:endParaRPr lang="en-MY" sz="5500" kern="1200" dirty="0"/>
        </a:p>
      </dsp:txBody>
      <dsp:txXfrm>
        <a:off x="64397" y="64398"/>
        <a:ext cx="10386806" cy="119038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Resource Limits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Resource Limits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Depth Matters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Evaluation Functions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Evaluation Functions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Evaluation For Pacman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Why</a:t>
          </a:r>
          <a:r>
            <a:rPr lang="en-MY" sz="5500" kern="1200" baseline="0" dirty="0"/>
            <a:t> Pacman Starves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752"/>
          <a:ext cx="10515600" cy="17197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400" b="1" kern="1200" dirty="0"/>
            <a:t>Synergies between Evaluation Function and Alpha-Beta?</a:t>
          </a:r>
        </a:p>
      </dsp:txBody>
      <dsp:txXfrm>
        <a:off x="83950" y="84702"/>
        <a:ext cx="10347700" cy="1551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AEF5-DAFD-E817-6744-30CAD424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0093E-2F01-505E-8E46-5BA3255EC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C9FBF-318B-7C59-C9F7-F21FC134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590C-35AC-6361-DDE8-B42241F6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AC52-44E8-B744-2CE2-63AE0C58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301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30F9-6EE4-59E8-4743-63D3B5E0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B4AA0-55AF-32D5-3C7E-30236C2C1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22439-5012-44F1-EC9E-0C9EE84E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36DCE-A5BA-E722-8287-D54D3C33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AEEB2-8CE9-E252-8FAC-8E22F23E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508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F978-8A19-18F2-0011-BE8C4983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1EDC1-FCC2-1D50-4C34-F02DB63C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D25C3-822E-8838-FA11-35CAE7FD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BF102-FBA7-D0A0-C8FE-F0E0D72F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063E5-55E6-27D0-D97B-2F750A83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483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248B-4335-D8C3-435C-493AC12D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626D-199C-502D-4D8C-7A770631D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08346-F3B9-7451-8987-EFF60B8C8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EFAB7-2EC7-C3AB-03FD-8DFCECAF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0C5CD-81C7-82B8-0E77-0CFF178C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F45D7-7A78-1C93-E614-8DFC0B5A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97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79A5-F021-A9E0-1756-6B101D9E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59B86-FCBE-58B9-553C-63D8732D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68398-A547-605A-BCEA-C262BC481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345B5-ADDF-3962-F91F-537601E0D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39A2A-68C9-6FC5-EE68-102FB45E0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95CD3-79EC-C699-C09A-FA5B201A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E1312-C6CD-ECC8-23E9-ABA9285C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3C641-4117-948B-6614-F52225CE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039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812B-84A5-78BA-C3C8-8C955A9E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B5B7E-E28E-7462-94CC-50D6F022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FE06A-55D3-E28C-3E1B-9A3B197E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E495F-E5DE-929C-2FA4-2CC18A0F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993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1C8A5-9086-DD5D-32C7-24EF3E17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9797C-E5CC-7F12-01F3-5A2C466E6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5463A-B9B1-51B5-94D7-77BE5307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5719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72BE-FF6C-B348-EC85-9B53359D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F8AB0-6AD5-A12E-209D-B13C4BB94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69EA3-68D8-7B40-44BF-924DE49B6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7896-5C6D-9AF6-3EE5-81AB81B2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C14C0-BFAD-BB2F-1C7E-D52B9115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44D9-36C8-5F8F-3B6B-1BB6AC12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1141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C8AD-72A5-AE29-7276-5A9D3489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5B2A6-90D0-BE34-BAFC-DB60A7CF7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BBC54-0F64-7FBD-EC3D-848C0C086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E2D13-895D-E9F9-0426-52B488F6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57E9E-CE21-96F7-3549-DD709D5E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E0692-B5A4-46ED-4EB1-3893ACF3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002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A17B-8D5A-A87E-2121-28C98A67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3DEA-1658-90CB-F0AB-97D6F351F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2C614-F832-AC51-9760-3077CE01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BB879-9E5B-6760-BFCD-04CF4D24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C790C-E7A8-5555-A6A7-BDA47530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277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3C396-FEB9-287C-E437-EC938E506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995A1-BBAE-4498-B5F6-B62D4ADD7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16FA-84FA-6638-344C-3D4A50B3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0F7C1-9E20-2E87-9B93-4F9880DC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4B1BF-E6FD-1FB0-E191-226B1B0E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12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43F18-D1C4-BBF0-C7E0-1136D84F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A946-25C7-B2C3-2946-CD63242E9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DBBB-04C6-391D-47D8-592B6C187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6B62F-CF77-46A6-A3C5-5135EBEFE6FB}" type="datetimeFigureOut">
              <a:rPr lang="en-MY" smtClean="0"/>
              <a:t>4/3/2025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AB2D-8459-BFE6-D73E-CD1523E92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8830F-8326-9178-1B16-CBF6485A4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520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image" Target="../media/image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7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9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0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3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4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5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6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12" Type="http://schemas.openxmlformats.org/officeDocument/2006/relationships/image" Target="../media/image17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12" Type="http://schemas.openxmlformats.org/officeDocument/2006/relationships/image" Target="../media/image18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12" Type="http://schemas.openxmlformats.org/officeDocument/2006/relationships/image" Target="../media/image19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12" Type="http://schemas.openxmlformats.org/officeDocument/2006/relationships/image" Target="../media/image20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21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12" Type="http://schemas.openxmlformats.org/officeDocument/2006/relationships/image" Target="../media/image22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23.pn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24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25.pn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12" Type="http://schemas.openxmlformats.org/officeDocument/2006/relationships/image" Target="../media/image21.pn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26.pn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27.pn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7" Type="http://schemas.openxmlformats.org/officeDocument/2006/relationships/image" Target="../media/image28.png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7" Type="http://schemas.openxmlformats.org/officeDocument/2006/relationships/image" Target="../media/image29.png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7" Type="http://schemas.openxmlformats.org/officeDocument/2006/relationships/image" Target="../media/image30.png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7" Type="http://schemas.openxmlformats.org/officeDocument/2006/relationships/image" Target="../media/image31.png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7" Type="http://schemas.openxmlformats.org/officeDocument/2006/relationships/image" Target="../media/image32.png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F8E8-A406-1A70-7182-9470BADB3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MY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CS860: Artificial Intelligence</a:t>
            </a:r>
            <a:br>
              <a:rPr lang="en-MY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MY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Search and Game Trees</a:t>
            </a:r>
            <a:endParaRPr lang="en-MY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6DEFD-CE48-D99C-B3E1-EB096BB1D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6838"/>
            <a:ext cx="9144000" cy="1255712"/>
          </a:xfrm>
        </p:spPr>
        <p:txBody>
          <a:bodyPr>
            <a:normAutofit/>
          </a:bodyPr>
          <a:lstStyle/>
          <a:p>
            <a:r>
              <a:rPr lang="en-MY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M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Soyiba Jawed</a:t>
            </a:r>
          </a:p>
          <a:p>
            <a:pPr algn="l"/>
            <a:endParaRPr lang="en-MY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34930"/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[These slides adapted from Dan Klein and Pieter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Abbeel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]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34930" algn="ctr"/>
            <a:endParaRPr lang="en-M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4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black and white image of a car&#10;&#10;Description automatically generated">
            <a:extLst>
              <a:ext uri="{FF2B5EF4-FFF2-40B4-BE49-F238E27FC236}">
                <a16:creationId xmlns:a16="http://schemas.microsoft.com/office/drawing/2014/main" id="{94004789-D75D-9CC8-D1CC-0A88A5A85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251" r="15352" b="-1"/>
          <a:stretch/>
        </p:blipFill>
        <p:spPr>
          <a:xfrm>
            <a:off x="5089243" y="877413"/>
            <a:ext cx="6222628" cy="504309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61681BF-7B94-84D8-92B7-47C3D990A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369205"/>
              </p:ext>
            </p:extLst>
          </p:nvPr>
        </p:nvGraphicFramePr>
        <p:xfrm>
          <a:off x="876693" y="2533476"/>
          <a:ext cx="3346964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126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508D6-9A45-A833-9AD8-594ECA0E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92B877F-BBE7-1C7F-2EF7-BA8F66D95E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6964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diagram of a triangle with numbers and arrows&#10;&#10;Description automatically generated">
            <a:extLst>
              <a:ext uri="{FF2B5EF4-FFF2-40B4-BE49-F238E27FC236}">
                <a16:creationId xmlns:a16="http://schemas.microsoft.com/office/drawing/2014/main" id="{060D4BD6-A585-1D9B-47ED-68719A7AB3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2864" y="4599763"/>
            <a:ext cx="2230783" cy="189311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B65BB4-F4CF-44A6-66C0-E11803A88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2454016" y="1825625"/>
            <a:ext cx="7283967" cy="4351338"/>
          </a:xfrm>
        </p:spPr>
      </p:pic>
    </p:spTree>
    <p:extLst>
      <p:ext uri="{BB962C8B-B14F-4D97-AF65-F5344CB8AC3E}">
        <p14:creationId xmlns:p14="http://schemas.microsoft.com/office/powerpoint/2010/main" val="332368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3D96-B8A4-C1E5-5ED3-6A927081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A51C605-220B-CE32-71CE-2EF2ECE07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9644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9C4CDA-8CF6-D23B-8F18-84E385811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52187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C0E5FF3-4537-1931-0154-7EDC3A996F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5866" y="1825625"/>
            <a:ext cx="8155251" cy="455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7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1238B0-FF97-55AB-273B-C126375B53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5BA84B5-0347-8311-8F66-ED5DE2010E55}"/>
              </a:ext>
            </a:extLst>
          </p:cNvPr>
          <p:cNvSpPr txBox="1"/>
          <p:nvPr/>
        </p:nvSpPr>
        <p:spPr>
          <a:xfrm>
            <a:off x="1154766" y="1825625"/>
            <a:ext cx="100852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2060"/>
                </a:solidFill>
                <a:effectLst/>
              </a:rPr>
              <a:t>Many different kinds of games 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Axes: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</a:rPr>
              <a:t>Deterministic or stochastic?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One, two, or more players?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</a:rPr>
              <a:t>Zero Sum?</a:t>
            </a:r>
            <a:endParaRPr lang="en-US" sz="2400" dirty="0">
              <a:solidFill>
                <a:srgbClr val="333333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Perfect information(can you see the state)?</a:t>
            </a:r>
          </a:p>
          <a:p>
            <a:pPr marL="85725" lvl="1" indent="37147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Want algorithms for calculating a </a:t>
            </a:r>
            <a:r>
              <a:rPr lang="en-US" sz="2400" dirty="0">
                <a:solidFill>
                  <a:srgbClr val="FF0000"/>
                </a:solidFill>
              </a:rPr>
              <a:t>strategy (policy) </a:t>
            </a:r>
            <a:r>
              <a:rPr lang="en-US" sz="2400" dirty="0">
                <a:solidFill>
                  <a:srgbClr val="002060"/>
                </a:solidFill>
              </a:rPr>
              <a:t>which recommends a move from each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24211B-1755-21E0-5873-CC54E103B0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2558" y="1690688"/>
            <a:ext cx="3624676" cy="19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73318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1238B0-FF97-55AB-273B-C126375B53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59EC25E-F395-AE45-60AA-3FD788302A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1625812"/>
            <a:ext cx="11210975" cy="455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68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5C97E69-FA87-F194-D2C7-02A818243A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491" y="1812712"/>
            <a:ext cx="9517626" cy="452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2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53966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4F48353-B0EE-DEF4-1103-850EF180C5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226" y="1879164"/>
            <a:ext cx="9979742" cy="435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1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648224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6962A6D-CDD3-1598-3E2C-E5BA7B5AF1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726" y="1976754"/>
            <a:ext cx="6899081" cy="43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0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28008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7353256-6AE0-8660-643B-5BA3DF9DDC2B}"/>
              </a:ext>
            </a:extLst>
          </p:cNvPr>
          <p:cNvSpPr txBox="1"/>
          <p:nvPr/>
        </p:nvSpPr>
        <p:spPr>
          <a:xfrm>
            <a:off x="934064" y="2015613"/>
            <a:ext cx="829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800" dirty="0">
                <a:solidFill>
                  <a:srgbClr val="002060"/>
                </a:solidFill>
              </a:rPr>
              <a:t>No longer minimizing cost!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800" dirty="0">
                <a:solidFill>
                  <a:srgbClr val="002060"/>
                </a:solidFill>
              </a:rPr>
              <a:t>Agent now wants to maximize its score/utility</a:t>
            </a:r>
            <a:r>
              <a:rPr lang="en-MY" dirty="0">
                <a:solidFill>
                  <a:srgbClr val="00206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53851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114954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550F4F0-7858-21F5-3C96-64BF1867F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0993" y="2149579"/>
            <a:ext cx="8103549" cy="411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47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509334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F2F4663-AF01-834A-A6BE-1CB7E34B9F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2993" y="1956531"/>
            <a:ext cx="9026013" cy="42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97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205479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8660D36-A497-94C4-5146-DAE3B8343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6136" y="1884073"/>
            <a:ext cx="8886896" cy="460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4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726612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09D181F-3D5D-820F-2B76-DB61D1BE82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407" y="1927124"/>
            <a:ext cx="9573574" cy="456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3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906258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FA2E10D-7707-C2D4-FC3F-65CECE6B40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473" y="1823924"/>
            <a:ext cx="8988585" cy="48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564469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5528A3-F12B-318A-F360-A2A3CE70C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1097" y="1729146"/>
            <a:ext cx="9205101" cy="476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20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142015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FF47F77-8B02-E7AA-436A-84ADBBDFA5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380" y="1936453"/>
            <a:ext cx="10009239" cy="36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5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DCA3-4536-2EA3-239A-8C3796DF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7A2EF0-DA00-A25B-44DE-E36CA0D3F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83609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5D1F19-5887-89E7-F840-D2FA042FA9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A71BF1D-F66F-7AFA-002A-DE5D614701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7413" y="2094132"/>
            <a:ext cx="10176387" cy="457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97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DCA3-4536-2EA3-239A-8C3796DF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7A2EF0-DA00-A25B-44DE-E36CA0D3F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012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5D1F19-5887-89E7-F840-D2FA042FA9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A21649B-2736-1AE6-6150-371CB2FD77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0115" y="2207374"/>
            <a:ext cx="9922517" cy="410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44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DCA3-4536-2EA3-239A-8C3796DF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7A2EF0-DA00-A25B-44DE-E36CA0D3F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106069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5D1F19-5887-89E7-F840-D2FA042FA9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22E419A-918E-7E98-B190-689CBA1F44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4503" y="1909821"/>
            <a:ext cx="9610172" cy="440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98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9048-C8FF-3D99-FF78-D638E3E7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7CE75A-3423-362A-4D1C-BD8708694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31076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0555A5-3F24-A20A-D6B6-D5EC2D16A5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53A7013-D849-8AD8-3A99-88214C6B64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2125" y="2173117"/>
            <a:ext cx="9048750" cy="393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88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EC400-8E10-31DE-BE84-807C4FBC9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2A11FA-D35C-1BEA-454D-349AF7692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31946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99C36F0-E3B3-52F8-439E-91AFCC7915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828" y="2031093"/>
            <a:ext cx="9197211" cy="43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07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16AC-E703-135B-5368-D03E48BB8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8BB5E57-1917-AD71-B889-79922C7995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790233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281125-1B29-E6A4-3651-D8EEB138D6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B620843-D518-BE52-77E3-685C098754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5531" y="1998488"/>
            <a:ext cx="7300937" cy="41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5341-C308-0FBB-48CC-8A3F779F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E15D8FC-A4F9-BAAD-CF43-3A9624360E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068861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6C3D92F-017E-B1FF-EDD6-2F8C7FDBA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274" y="1939244"/>
            <a:ext cx="10729452" cy="469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94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E940-3BB1-5347-13F4-82D9C94F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285EEF3-217F-0BAA-BC30-BBC0E0843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1116251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21D21A7-A101-65CA-048B-0C53B1FED1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487" y="1690688"/>
            <a:ext cx="10194823" cy="482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47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3657-ACC3-208E-419E-93758227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E3B8D05-394E-973E-D159-D8189EEE8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823352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019B0E1B-CB54-9771-7FAF-38B06243CC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155" y="1863154"/>
            <a:ext cx="8354075" cy="46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96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E5D4-65D8-7680-C0E5-A413360D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ECCEDA-AD9E-1267-FE15-1DE00759A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442727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87B968C-B1FD-B0F3-3035-796875BA33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783365"/>
              </p:ext>
            </p:extLst>
          </p:nvPr>
        </p:nvGraphicFramePr>
        <p:xfrm>
          <a:off x="1183340" y="1859340"/>
          <a:ext cx="10515599" cy="2282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8249CCF-A853-5BFD-BC99-CF0FCE276C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4506" y="1951882"/>
            <a:ext cx="9197211" cy="43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6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E5D4-65D8-7680-C0E5-A413360D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ECCEDA-AD9E-1267-FE15-1DE00759AD72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8A83401-FEC4-3D96-4CC1-68846226D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8697" y="2043775"/>
            <a:ext cx="10019071" cy="44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46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E5D4-65D8-7680-C0E5-A413360D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ECCEDA-AD9E-1267-FE15-1DE00759A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23605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F88C777-1C8B-E019-1CE7-8FB42EEA0F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038" y="1964629"/>
            <a:ext cx="9468465" cy="441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02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3452-A9EB-4156-C52F-8D8222F5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1D454A-836E-E2D6-153C-1BAF2941F3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907289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11A14D2-454C-3477-00D0-0FB7C60A38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524" y="1933895"/>
            <a:ext cx="8904683" cy="46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78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3452-A9EB-4156-C52F-8D8222F5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1D454A-836E-E2D6-153C-1BAF2941F38E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3C9C489-69E0-14B9-D632-98CB5FE19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8548" y="1963087"/>
            <a:ext cx="8221361" cy="443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0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72E7-E034-B51B-ACD7-0F53E509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1E95B1-04A1-C76D-D5FF-98B9875663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071276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D8B8C45-E9C5-4D88-E2D9-56F7E86907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1811" y="1776182"/>
            <a:ext cx="6468378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87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B405-38D0-824B-80D0-509CB994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B2D516-1E6E-8B65-C29B-108BFCFCC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85459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AA2C067-F3E4-1DFA-0E85-C657C75D4C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6787" y="2061497"/>
            <a:ext cx="8898194" cy="421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42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D6AED-A239-12C3-ABE2-AB28C606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4DA7D24-F167-CD80-EBF5-A991776D12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5851853"/>
              </p:ext>
            </p:extLst>
          </p:nvPr>
        </p:nvGraphicFramePr>
        <p:xfrm>
          <a:off x="838200" y="188259"/>
          <a:ext cx="10515600" cy="1721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E4543A-7901-9B02-CF9E-976179E4BABB}"/>
              </a:ext>
            </a:extLst>
          </p:cNvPr>
          <p:cNvSpPr txBox="1"/>
          <p:nvPr/>
        </p:nvSpPr>
        <p:spPr>
          <a:xfrm>
            <a:off x="914400" y="216944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latin typeface="NimbusRomNo9L-Regu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F62BF-5BD9-399F-3583-9CF78DACFD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704" y="2070699"/>
            <a:ext cx="8967019" cy="43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6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5315</TotalTime>
  <Words>193</Words>
  <Application>Microsoft Office PowerPoint</Application>
  <PresentationFormat>Widescreen</PresentationFormat>
  <Paragraphs>46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NimbusRomNo9L-Regu</vt:lpstr>
      <vt:lpstr>Times New Roman</vt:lpstr>
      <vt:lpstr>Office Theme</vt:lpstr>
      <vt:lpstr>CS860: Artificial Intelligence   Adversarial Search and Game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Soyiba</dc:creator>
  <cp:lastModifiedBy>Dr Soyiba</cp:lastModifiedBy>
  <cp:revision>126</cp:revision>
  <dcterms:created xsi:type="dcterms:W3CDTF">2024-02-19T04:51:54Z</dcterms:created>
  <dcterms:modified xsi:type="dcterms:W3CDTF">2025-03-04T04:41:33Z</dcterms:modified>
</cp:coreProperties>
</file>